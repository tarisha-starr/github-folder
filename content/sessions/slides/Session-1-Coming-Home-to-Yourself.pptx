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Candle, circle agreements: what's shared here stays here; we witness, we don't fix or rescue; there's no right or wrong way; there's no such thing as too much. Soften in: feet, jaw, shoulders, belly, three breaths. Tonight we find her, your needs, wants, deepest desires. One-word go-round.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night: your needs, your wants, your deepest desires. We start by coming home to yourself.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agreements aloud: what's shared here stays here; we witness, we don't fix or rescue; there's no right or wrong way; there's no such thing as too much in this room.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eyes closed, soften the jaw, drop the shoulders, unclench the belly, release the pelvic floor. 'She doesn't live in the tension, she lives in the softening.' Three slow breaths, let the day fall away.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distinction: Needs, what you can't be well without. Wants, the specific things that meet a need. Desires, the deep, alive pull, your compass. You can't ask for what you can't name, so we name them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been gathering everyone else's needs so long you lost the thread of your own. Tonight we pick it back 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Claire Zammit's work. You are not overlooked by accident. Set it up gently, this is the piece most women have never heard.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 Invisible pattern: my attention is on everyone but me; I assume you can see what I never said; I serve until I'm empty; I wait, quietly, to be discovered. The key mechanism: assuming it's others' job to see what we never make visible.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self-fulfilling loop: believe you're invisible, disappear yourself while focused on others, they don't see you, you feel invisible, resentment, you ask with accusation, they defend, you feel invisible again. The belief builds its own proof.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Said gently: you have taught the people around you exactly how much of you to see. A habit, not a fact. Tonight we start practising the opposite.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shift, presencing: I stop waiting to be seen, I turn toward myself and make myself visible. It is my destiny to be visible. From making others responsible for seeing me, to seeing and presencing myself.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Broadcast. In pairs: 'One way I make myself invisible is...' / 'One way I've trained people not to see my needs is...' / 'The story underneath might be... invisible, not enough, too much, a burden.' Partner witnesses, no fixing. Swap. Main-room: the way I disappear 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The no is the doorway into your desires. Your body already knows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round, about 7 minutes, soft music: What I'm tired of pretending is... / What I'm done tolerating is... / What I no longer want is... Feel it, don't think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Every no is holding a yes behind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then say it out loud: The kind of touch I'm craving is... / A way I want to receive more is... / If I trusted myself completely, I would... Then speak one want out loud in dyads.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Explore in pairs. Underneath the want is the desire your whole life is organised around. Guide a short drop-in first if there's time.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if I had that, what would it give me? Keep asking, going seven levels deep. Reach for the true answer, not the impressive 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Claiming round: 'I'm a radiant woman, and I desire...' The circle answers: You're allowed.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power statement: I see myself. I am present to my own feelings, needs and desires. It is my destiny to be visible, and I take my rightful place.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Affirmation, hand on heart, together: I'm powerful. I can create life. I can create the life I desire. The power is in my hands.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Take-home: say one clean want a day, out loud; each night, whisper your deepest desire to yourself; you're teaching your body that your desire is safe. Closing round.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4234F"/>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RADIANT WOMEN'S CIRCLE  ·  SESSION 1</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5400">
                <a:solidFill>
                  <a:srgbClr val="FCE8EA"/>
                </a:solidFill>
                <a:latin typeface="Marcellus"/>
              </a:rPr>
              <a:t>Coming home to yourself</a:t>
            </a:r>
          </a:p>
        </p:txBody>
      </p:sp>
      <p:sp>
        <p:nvSpPr>
          <p:cNvPr id="4" name="Rectangle 3"/>
          <p:cNvSpPr/>
          <p:nvPr/>
        </p:nvSpPr>
        <p:spPr>
          <a:xfrm>
            <a:off x="822960" y="3977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297680"/>
            <a:ext cx="10515600" cy="2926080"/>
          </a:xfrm>
          <a:prstGeom prst="rect">
            <a:avLst/>
          </a:prstGeom>
          <a:noFill/>
        </p:spPr>
        <p:txBody>
          <a:bodyPr wrap="square">
            <a:spAutoFit/>
          </a:bodyPr>
          <a:lstStyle/>
          <a:p>
            <a:pPr>
              <a:spcAft>
                <a:spcPts val="1200"/>
              </a:spcAft>
            </a:pPr>
            <a:r>
              <a:rPr sz="2700" i="0">
                <a:solidFill>
                  <a:srgbClr val="FCE8EA"/>
                </a:solidFill>
                <a:latin typeface="Lora"/>
              </a:rPr>
              <a:t>Finding what you want, need and desire.</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E8EA"/>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Tonight, we find her.</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Your needs. Your wants. Your deepest desires. We start by coming home to yourself.</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HOW WE HOLD THIS SPACE</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Our circle</a:t>
            </a:r>
          </a:p>
        </p:txBody>
      </p:sp>
      <p:sp>
        <p:nvSpPr>
          <p:cNvPr id="4" name="Rectangle 3"/>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What's shared here stays here.</a:t>
            </a:r>
          </a:p>
          <a:p>
            <a:pPr>
              <a:spcAft>
                <a:spcPts val="1200"/>
              </a:spcAft>
            </a:pPr>
            <a:r>
              <a:rPr sz="2300" i="0">
                <a:solidFill>
                  <a:srgbClr val="FCE8EA"/>
                </a:solidFill>
                <a:latin typeface="Lora"/>
              </a:rPr>
              <a:t>•  We witness. We don't fix or rescue.</a:t>
            </a:r>
          </a:p>
          <a:p>
            <a:pPr>
              <a:spcAft>
                <a:spcPts val="1200"/>
              </a:spcAft>
            </a:pPr>
            <a:r>
              <a:rPr sz="2300" i="0">
                <a:solidFill>
                  <a:srgbClr val="FCE8EA"/>
                </a:solidFill>
                <a:latin typeface="Lora"/>
              </a:rPr>
              <a:t>•  There's no right or wrong way.</a:t>
            </a:r>
          </a:p>
          <a:p>
            <a:pPr>
              <a:spcAft>
                <a:spcPts val="1200"/>
              </a:spcAft>
            </a:pPr>
            <a:r>
              <a:rPr sz="2300" i="0">
                <a:solidFill>
                  <a:srgbClr val="FCE8EA"/>
                </a:solidFill>
                <a:latin typeface="Lora"/>
              </a:rPr>
              <a:t>•  There's no such thing as too much in this room.</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24652"/>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Softening practice.</a:t>
            </a:r>
          </a:p>
        </p:txBody>
      </p:sp>
      <p:sp>
        <p:nvSpPr>
          <p:cNvPr id="3" name="Rectangle 2"/>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FCE8EA"/>
                </a:solidFill>
                <a:latin typeface="Lora"/>
              </a:rPr>
              <a:t>Drop your shoulders. Unclench your belly. She doesn't live in the tension. She lives in the softening.</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E8EA"/>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Three words we blur together</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1D283C"/>
                </a:solidFill>
                <a:latin typeface="Lora"/>
              </a:rPr>
              <a:t>•  Needs — what you can't be well without.</a:t>
            </a:r>
          </a:p>
          <a:p>
            <a:pPr>
              <a:spcAft>
                <a:spcPts val="1200"/>
              </a:spcAft>
            </a:pPr>
            <a:r>
              <a:rPr sz="2300" i="0">
                <a:solidFill>
                  <a:srgbClr val="1D283C"/>
                </a:solidFill>
                <a:latin typeface="Lora"/>
              </a:rPr>
              <a:t>•  Wants — the specific things that meet a need.</a:t>
            </a:r>
          </a:p>
          <a:p>
            <a:pPr>
              <a:spcAft>
                <a:spcPts val="1200"/>
              </a:spcAft>
            </a:pPr>
            <a:r>
              <a:rPr sz="2300" i="0">
                <a:solidFill>
                  <a:srgbClr val="1D283C"/>
                </a:solidFill>
                <a:latin typeface="Lora"/>
              </a:rPr>
              <a:t>•  Desires — the deep, alive pull. Your compass.</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C9A86D"/>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You're not too much.</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You've been gathering everyone else's needs for so long you lost the thread of your own. Tonight we pick it back up.</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74234F"/>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CLAIRE ZAMMIT</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5400">
                <a:solidFill>
                  <a:srgbClr val="FCE8EA"/>
                </a:solidFill>
                <a:latin typeface="Marcellus"/>
              </a:rPr>
              <a:t>The invisible woman</a:t>
            </a:r>
          </a:p>
        </p:txBody>
      </p:sp>
      <p:sp>
        <p:nvSpPr>
          <p:cNvPr id="4" name="Rectangle 3"/>
          <p:cNvSpPr/>
          <p:nvPr/>
        </p:nvSpPr>
        <p:spPr>
          <a:xfrm>
            <a:off x="822960" y="3977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297680"/>
            <a:ext cx="10515600" cy="2926080"/>
          </a:xfrm>
          <a:prstGeom prst="rect">
            <a:avLst/>
          </a:prstGeom>
          <a:noFill/>
        </p:spPr>
        <p:txBody>
          <a:bodyPr wrap="square">
            <a:spAutoFit/>
          </a:bodyPr>
          <a:lstStyle/>
          <a:p>
            <a:pPr>
              <a:spcAft>
                <a:spcPts val="1200"/>
              </a:spcAft>
            </a:pPr>
            <a:r>
              <a:rPr sz="2700" i="0">
                <a:solidFill>
                  <a:srgbClr val="FCE8EA"/>
                </a:solidFill>
                <a:latin typeface="Lora"/>
              </a:rPr>
              <a:t>You are not overlooked by accident.</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THE I'M INVISIBLE PATTERN</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How we disappear</a:t>
            </a:r>
          </a:p>
        </p:txBody>
      </p:sp>
      <p:sp>
        <p:nvSpPr>
          <p:cNvPr id="4" name="Rectangle 3"/>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My attention is on everyone but me.</a:t>
            </a:r>
          </a:p>
          <a:p>
            <a:pPr>
              <a:spcAft>
                <a:spcPts val="1200"/>
              </a:spcAft>
            </a:pPr>
            <a:r>
              <a:rPr sz="2300" i="0">
                <a:solidFill>
                  <a:srgbClr val="FCE8EA"/>
                </a:solidFill>
                <a:latin typeface="Lora"/>
              </a:rPr>
              <a:t>•  I assume you can see what I never said.</a:t>
            </a:r>
          </a:p>
          <a:p>
            <a:pPr>
              <a:spcAft>
                <a:spcPts val="1200"/>
              </a:spcAft>
            </a:pPr>
            <a:r>
              <a:rPr sz="2300" i="0">
                <a:solidFill>
                  <a:srgbClr val="FCE8EA"/>
                </a:solidFill>
                <a:latin typeface="Lora"/>
              </a:rPr>
              <a:t>•  I serve until I'm empty.</a:t>
            </a:r>
          </a:p>
          <a:p>
            <a:pPr>
              <a:spcAft>
                <a:spcPts val="1200"/>
              </a:spcAft>
            </a:pPr>
            <a:r>
              <a:rPr sz="2300" i="0">
                <a:solidFill>
                  <a:srgbClr val="FCE8EA"/>
                </a:solidFill>
                <a:latin typeface="Lora"/>
              </a:rPr>
              <a:t>•  I wait, quietly, to be discovered.</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7CA1A5"/>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The loop</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Believe no-one cares or being seen is unsafe → disappear yourself while focusing on others' needs → they don't see you → you feel invisible → you become resentful → you ask with accusation and frustration → they defend and don't hear you → you feel invisible and uncared for → resentful again... The belief builds its own proof.</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E8EA"/>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The hard truth</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You have taught the people around you exactly how much of you to see. And tonight we start practising the opposite.</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C9A86D"/>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74234F"/>
                </a:solidFill>
                <a:latin typeface="Lora"/>
              </a:rPr>
              <a:t>THE SHIFT  ·  PRESENCING</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I see myself. I am present.</a:t>
            </a:r>
          </a:p>
        </p:txBody>
      </p:sp>
      <p:sp>
        <p:nvSpPr>
          <p:cNvPr id="4" name="Rectangle 3"/>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I stop waiting to be seen. I turn toward myself, and I make myself visible. It is my destiny to be visible.</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24652"/>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IN PAIRS</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Breakout · How I make myself invisible</a:t>
            </a:r>
          </a:p>
        </p:txBody>
      </p:sp>
      <p:sp>
        <p:nvSpPr>
          <p:cNvPr id="4" name="Rectangle 3"/>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One way I make myself invisible is...</a:t>
            </a:r>
          </a:p>
          <a:p>
            <a:pPr>
              <a:spcAft>
                <a:spcPts val="1200"/>
              </a:spcAft>
            </a:pPr>
            <a:r>
              <a:rPr sz="2300" i="0">
                <a:solidFill>
                  <a:srgbClr val="FCE8EA"/>
                </a:solidFill>
                <a:latin typeface="Lora"/>
              </a:rPr>
              <a:t>•  One way I've trained people not to see my needs is...</a:t>
            </a:r>
          </a:p>
          <a:p>
            <a:pPr>
              <a:spcAft>
                <a:spcPts val="1200"/>
              </a:spcAft>
            </a:pPr>
            <a:r>
              <a:rPr sz="2300" i="0">
                <a:solidFill>
                  <a:srgbClr val="FCE8EA"/>
                </a:solidFill>
                <a:latin typeface="Lora"/>
              </a:rPr>
              <a:t>•  The story underneath might be... (invisible / not enough / too much / a burden)</a:t>
            </a:r>
          </a:p>
          <a:p>
            <a:pPr>
              <a:spcAft>
                <a:spcPts val="1200"/>
              </a:spcAft>
            </a:pPr>
            <a:r>
              <a:rPr sz="2300" i="0">
                <a:solidFill>
                  <a:srgbClr val="FCE8EA"/>
                </a:solidFill>
                <a:latin typeface="Lora"/>
              </a:rPr>
              <a:t>•  Partner: just witness. Then swap.</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74234F"/>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PART ONE</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5400">
                <a:solidFill>
                  <a:srgbClr val="FCE8EA"/>
                </a:solidFill>
                <a:latin typeface="Marcellus"/>
              </a:rPr>
              <a:t>What I don't want</a:t>
            </a:r>
          </a:p>
        </p:txBody>
      </p:sp>
      <p:sp>
        <p:nvSpPr>
          <p:cNvPr id="4" name="Rectangle 3"/>
          <p:cNvSpPr/>
          <p:nvPr/>
        </p:nvSpPr>
        <p:spPr>
          <a:xfrm>
            <a:off x="822960" y="3977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297680"/>
            <a:ext cx="10515600" cy="2926080"/>
          </a:xfrm>
          <a:prstGeom prst="rect">
            <a:avLst/>
          </a:prstGeom>
          <a:noFill/>
        </p:spPr>
        <p:txBody>
          <a:bodyPr wrap="square">
            <a:spAutoFit/>
          </a:bodyPr>
          <a:lstStyle/>
          <a:p>
            <a:pPr>
              <a:spcAft>
                <a:spcPts val="1200"/>
              </a:spcAft>
            </a:pPr>
            <a:r>
              <a:rPr sz="2700" i="0">
                <a:solidFill>
                  <a:srgbClr val="FCE8EA"/>
                </a:solidFill>
                <a:latin typeface="Lora"/>
              </a:rPr>
              <a:t>The no is the doorway into your desires. Your body already knows it.</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E8EA"/>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74234F"/>
                </a:solidFill>
                <a:latin typeface="Lora"/>
              </a:rPr>
              <a:t>JOURNAL</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Name the no</a:t>
            </a:r>
          </a:p>
        </p:txBody>
      </p:sp>
      <p:sp>
        <p:nvSpPr>
          <p:cNvPr id="4" name="Rectangle 3"/>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1D283C"/>
                </a:solidFill>
                <a:latin typeface="Lora"/>
              </a:rPr>
              <a:t>•  What I'm tired of pretending is...</a:t>
            </a:r>
          </a:p>
          <a:p>
            <a:pPr>
              <a:spcAft>
                <a:spcPts val="1200"/>
              </a:spcAft>
            </a:pPr>
            <a:r>
              <a:rPr sz="2300" i="0">
                <a:solidFill>
                  <a:srgbClr val="1D283C"/>
                </a:solidFill>
                <a:latin typeface="Lora"/>
              </a:rPr>
              <a:t>•  What I'm done tolerating is...</a:t>
            </a:r>
          </a:p>
          <a:p>
            <a:pPr>
              <a:spcAft>
                <a:spcPts val="1200"/>
              </a:spcAft>
            </a:pPr>
            <a:r>
              <a:rPr sz="2300" i="0">
                <a:solidFill>
                  <a:srgbClr val="1D283C"/>
                </a:solidFill>
                <a:latin typeface="Lora"/>
              </a:rPr>
              <a:t>•  What I no longer want is...</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PART TWO</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5400">
                <a:solidFill>
                  <a:srgbClr val="FCE8EA"/>
                </a:solidFill>
                <a:latin typeface="Marcellus"/>
              </a:rPr>
              <a:t>What I do want</a:t>
            </a:r>
          </a:p>
        </p:txBody>
      </p:sp>
      <p:sp>
        <p:nvSpPr>
          <p:cNvPr id="4" name="Rectangle 3"/>
          <p:cNvSpPr/>
          <p:nvPr/>
        </p:nvSpPr>
        <p:spPr>
          <a:xfrm>
            <a:off x="822960" y="3977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297680"/>
            <a:ext cx="10515600" cy="2926080"/>
          </a:xfrm>
          <a:prstGeom prst="rect">
            <a:avLst/>
          </a:prstGeom>
          <a:noFill/>
        </p:spPr>
        <p:txBody>
          <a:bodyPr wrap="square">
            <a:spAutoFit/>
          </a:bodyPr>
          <a:lstStyle/>
          <a:p>
            <a:pPr>
              <a:spcAft>
                <a:spcPts val="1200"/>
              </a:spcAft>
            </a:pPr>
            <a:r>
              <a:rPr sz="2700" i="0">
                <a:solidFill>
                  <a:srgbClr val="FCE8EA"/>
                </a:solidFill>
                <a:latin typeface="Lora"/>
              </a:rPr>
              <a:t>Every no is holding a yes behind it.</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E8EA"/>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74234F"/>
                </a:solidFill>
                <a:latin typeface="Lora"/>
              </a:rPr>
              <a:t>JOURNAL, THEN SAY IT OUT LOUD</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Turn it into a yes</a:t>
            </a:r>
          </a:p>
        </p:txBody>
      </p:sp>
      <p:sp>
        <p:nvSpPr>
          <p:cNvPr id="4" name="Rectangle 3"/>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1D283C"/>
                </a:solidFill>
                <a:latin typeface="Lora"/>
              </a:rPr>
              <a:t>•  The kind of touch I'm craving is...</a:t>
            </a:r>
          </a:p>
          <a:p>
            <a:pPr>
              <a:spcAft>
                <a:spcPts val="1200"/>
              </a:spcAft>
            </a:pPr>
            <a:r>
              <a:rPr sz="2300" i="0">
                <a:solidFill>
                  <a:srgbClr val="1D283C"/>
                </a:solidFill>
                <a:latin typeface="Lora"/>
              </a:rPr>
              <a:t>•  A way I want to receive more is...</a:t>
            </a:r>
          </a:p>
          <a:p>
            <a:pPr>
              <a:spcAft>
                <a:spcPts val="1200"/>
              </a:spcAft>
            </a:pPr>
            <a:r>
              <a:rPr sz="2300" i="0">
                <a:solidFill>
                  <a:srgbClr val="1D283C"/>
                </a:solidFill>
                <a:latin typeface="Lora"/>
              </a:rPr>
              <a:t>•  If I trusted myself completely, I would...</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74234F"/>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PART THREE</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5400">
                <a:solidFill>
                  <a:srgbClr val="FCE8EA"/>
                </a:solidFill>
                <a:latin typeface="Marcellus"/>
              </a:rPr>
              <a:t>My deepest desire is...</a:t>
            </a:r>
          </a:p>
        </p:txBody>
      </p:sp>
      <p:sp>
        <p:nvSpPr>
          <p:cNvPr id="4" name="Rectangle 3"/>
          <p:cNvSpPr/>
          <p:nvPr/>
        </p:nvSpPr>
        <p:spPr>
          <a:xfrm>
            <a:off x="822960" y="3977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297680"/>
            <a:ext cx="10515600" cy="2926080"/>
          </a:xfrm>
          <a:prstGeom prst="rect">
            <a:avLst/>
          </a:prstGeom>
          <a:noFill/>
        </p:spPr>
        <p:txBody>
          <a:bodyPr wrap="square">
            <a:spAutoFit/>
          </a:bodyPr>
          <a:lstStyle/>
          <a:p>
            <a:pPr>
              <a:spcAft>
                <a:spcPts val="1200"/>
              </a:spcAft>
            </a:pPr>
            <a:r>
              <a:rPr sz="2700" i="0">
                <a:solidFill>
                  <a:srgbClr val="FCE8EA"/>
                </a:solidFill>
                <a:latin typeface="Lora"/>
              </a:rPr>
              <a:t>Explore in pairs.</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24652"/>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Drop underneath</a:t>
            </a:r>
          </a:p>
        </p:txBody>
      </p:sp>
      <p:sp>
        <p:nvSpPr>
          <p:cNvPr id="3" name="Rectangle 2"/>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FCE8EA"/>
                </a:solidFill>
                <a:latin typeface="Lora"/>
              </a:rPr>
              <a:t>And if I had that, what would it give me? Keep asking, going seven levels deep.</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C9A86D"/>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Claim it</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I'm a radiant woman, and I desire... The circle answers: You're allowed.</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THE POWER STATEMENT</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I take my place</a:t>
            </a:r>
          </a:p>
        </p:txBody>
      </p:sp>
      <p:sp>
        <p:nvSpPr>
          <p:cNvPr id="4" name="Rectangle 3"/>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FCE8EA"/>
                </a:solidFill>
                <a:latin typeface="Lora"/>
              </a:rPr>
              <a:t>I see myself. I am present to my own feelings, needs and desires. It is my destiny to be visible, and I take my rightful place.</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74234F"/>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Claim your power</a:t>
            </a:r>
          </a:p>
        </p:txBody>
      </p:sp>
      <p:sp>
        <p:nvSpPr>
          <p:cNvPr id="3" name="Rectangle 2"/>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FCE8EA"/>
                </a:solidFill>
                <a:latin typeface="Lora"/>
              </a:rPr>
              <a:t>I'm powerful. I can create life. I can create the life I desire. The power is in my hands.</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E8EA"/>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74234F"/>
                </a:solidFill>
                <a:latin typeface="Lora"/>
              </a:rPr>
              <a:t>TAKE HOME</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This week</a:t>
            </a:r>
          </a:p>
        </p:txBody>
      </p:sp>
      <p:sp>
        <p:nvSpPr>
          <p:cNvPr id="4" name="Rectangle 3"/>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1D283C"/>
                </a:solidFill>
                <a:latin typeface="Lora"/>
              </a:rPr>
              <a:t>•  Say one clean want a day, out loud.</a:t>
            </a:r>
          </a:p>
          <a:p>
            <a:pPr>
              <a:spcAft>
                <a:spcPts val="1200"/>
              </a:spcAft>
            </a:pPr>
            <a:r>
              <a:rPr sz="2300" i="0">
                <a:solidFill>
                  <a:srgbClr val="1D283C"/>
                </a:solidFill>
                <a:latin typeface="Lora"/>
              </a:rPr>
              <a:t>•  Each night, whisper your deepest desire to yourself.</a:t>
            </a:r>
          </a:p>
          <a:p>
            <a:pPr>
              <a:spcAft>
                <a:spcPts val="1200"/>
              </a:spcAft>
            </a:pPr>
            <a:r>
              <a:rPr sz="2300" i="0">
                <a:solidFill>
                  <a:srgbClr val="1D283C"/>
                </a:solidFill>
                <a:latin typeface="Lora"/>
              </a:rPr>
              <a:t>•  You're teaching your body that your desire is safe.</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