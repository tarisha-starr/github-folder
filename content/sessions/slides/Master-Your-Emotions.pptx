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Light the candle, read the circle agreements: what's shared here stays here; we witness, we don't fix; you can always pass; there's no such thing as too much. Soften them in: feet on the floor, soften jaw, shoulders, belly, three slow breaths. 'Tonight we learn to be with our feelings, safely, not running and not drowning.' One-word go-round: how are you arriving?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frame for both sessions: lack of safety is the problem, not the emotions. Emotions aren't dangerous, being flooded is. We get flooded when we try to feel big things with no safety underneath.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we start with safety. We only expand, feel more, open more, when we're not overwhelmed and not sliding into our old patterns. The moment overwhelm shows up, or you reach for the numbing thing, that's not failure, it's information: come back to safety first.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your definition of safety, slowly: I'm connected to myself; I feel what's good for me; I test it out, one small step; I read how the other responds; then I choose, step forward or step away. Moving like that, connected, checking, choosing, there's no overwhelm.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it: when you stay with yourself the whole way, there's no overwhelm, because you never abandon yourself to cope.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Pose the reflection questions before the breakout: When do I feel safe? When do I not? Where do I abandon myself to keep the peace? What does it feel like in my body when I leave myself?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Broadcast to the rooms. In pairs, Partner A about 5-6 minutes: 'One place I feel safe is... one place I don't is...' then 'One way I abandon myself is...' and 'What it feels like in my body when I leave myself is...' Partner B witnesses, no fixing. Swap. Main-room: one way I abandon myself.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the numbing loop: stress makes emotions, emotions make stress; we reach for something outside ourselves, food, wine, phone, busyness, other people's problems, to fill an emotional hole.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it can't be filled from outside. There's no signal that says your emotional need is met, no leptin for feelings. So the fix backfires, we feel guilty, and the feeling still waits to be heard.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it clearly: emotions are the messengers. Ignore them and they don't go away, they get louder, they start screaming until we listen. Numbing is what we do when we don't feel safe enough to feel, it's not a flaw.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soft music, journal: what do you reach for when a feeling gets too big? No judgement, just notice. Then: 'okay, completing this reflection.'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 Linda Bacon's reframe: if you numb, you don't have a problem with food or wine or your phone, you have a problem with taking care of yourself, and with not feeling safe enough to feel. The numbing falls away as you meet your needs and build safety. Are you with 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the practice, hands on heart: 'How do you feel? What's going on for you?' Listen. Then 'I hear you feel...' and name it. If it's hard: 'I see this is difficult. I am here.' Nothing to change, just being with yourself. One of the fastest ways back to safety.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Broadcast. In pairs, Partner A hands on heart, out loud to B: 'How do you feel? What's going on for you?' Answer honestly. Partner B's only words back: 'I hear you feel...' No advice. Swap. Main-room: what happened in your body when someone just listened?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Take-home: when a feeling rises or you catch yourself reaching to numb, first ask 'Am I safe? Am I connected to myself?' Then hands on heart, 'How do you feel?' and listen. That's the whole practice. Session 2 is what to do when the feeling is a wave.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 2. Soften them in and anchor safety, then recap: lack of safety is the problem, not the emotions. Go-round: one feeling I've been carrying this week. Pose the reflection questions for later: what feels too big? where am I braced? what brings me back to safety?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go near a big feeling tonight, anchor safety: feet on the floor, hand on your heart, 'Right now, in this moment, I am here, and I am safe.'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Pose and let them sit: What feeling, if I let it, feels too big? Where do I feel it in my body, where am I braced? What brings me back to safety?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shutting it out, not drowning. Feeling into it without being taken over. The third way, right in the middle.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Grief comes in waves. You don't feel all of it at once; it rises, crests, passes for now, then returns. That's grief doing what grief does, not you failing.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skill of self-regulation, titrating: go into the feeling for a breath or two, really feel it, then deliberately come back to safety, feet, breath, hand on heart. A little in, a little out. The opposite of numbing, and of drowning.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the wave moves, keep part of your attention here: name five things you see, 'right now I am here and I am safe.' That's how you feel it without disappearing into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Safety first: tell them to pick something that's a 3 or 4 out of 10, not their biggest thing. Broadcast. In pairs, A brings a manageable feeling, feels it one or two breaths, says where it is; B guides A back to safety; a little in, a little out, three times; swap. B just holds the safety anchor. Main-room: what did you notice about coming back on purpose?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make peace in your head, and your body can still be holding it. The body lets go through breath, tears, moving, being held. Lead one minute: hand on the braced place, three long breaths, an audible sigh on each out-breath. Then soothe: hands on heart, 'I see this is hard. I am here.'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EFT, tapping, an easy and direct way to settle a big feeling and come back to safety in the body. Note you're a certified EFT practitioner and this is a quick version they can use right away.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Simply: tapping calms the amygdala's fight-or-flight alarm, shown on brain scans, so you shift into your logical brain and choose your response instead of being run by the feeling. It also helps the brain update: that's not a threat now, I'm safe.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Reassure about tapping on the 'negative': we don't attract more by naming it. We take the dirty laundry out and wash it instead of hiding it. Name it, clear it, and reframes come naturally.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steps: 1) choose a specific issue, rate it 1 to 10; 2) setup on the karate chop point, 'Even though I feel this, I love and accept myself,' three times; 3) tap the points saying your reminder phrase out loud; 4) breathe, re-rate, repeat until it drops. Sip water throughout.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points on camera: top of head, eyebrow, side of the eye, under the eye, under the nose, chin, collarbone, under the arm at nipple level, wrist. If another issue surfaces mid-round, that's good, that's how we go deeper.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Broadcast, or lead together first. In pairs, each picks an issue, rates 1 to 10, says it; tap through the points together saying your own reminder phrase out loud; partner keeps time and company; breathe, re-rate; second round if still high; swap. If something big surfaces, invite them back to safety and offer one-to-one support, this is everyday self-help, not trauma treatment.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Take-home, three moves: 1) safety first, am I connected to myself; 2) hands on heart, how do you feel, listen; 3) tap when it's big, and with the waves, feel a little, come back, feel a little more.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you don't master your emotions by controlling them, you master them by feeling safe enough to finally listen. Closing round, one line each: one feeling I'm going to stop numbing. Circle answers 'We hear you.' Blow out the candle.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D283C"/>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none">
            <a:spAutoFit/>
          </a:bodyPr>
          <a:lstStyle/>
          <a:p>
            <a:r>
              <a:rPr sz="1500" b="1">
                <a:solidFill>
                  <a:srgbClr val="C9A86D"/>
                </a:solidFill>
                <a:latin typeface="Lora"/>
              </a:rPr>
              <a:t>RADIANT WOMEN'S CIRCLE  ·  SESSION 1</a:t>
            </a:r>
          </a:p>
        </p:txBody>
      </p:sp>
      <p:sp>
        <p:nvSpPr>
          <p:cNvPr id="3" name="TextBox 2"/>
          <p:cNvSpPr txBox="1"/>
          <p:nvPr/>
        </p:nvSpPr>
        <p:spPr>
          <a:xfrm>
            <a:off x="822960" y="1005840"/>
            <a:ext cx="10515600" cy="2926080"/>
          </a:xfrm>
          <a:prstGeom prst="rect">
            <a:avLst/>
          </a:prstGeom>
          <a:noFill/>
        </p:spPr>
        <p:txBody>
          <a:bodyPr wrap="square" anchor="t">
            <a:spAutoFit/>
          </a:bodyPr>
          <a:lstStyle/>
          <a:p>
            <a:r>
              <a:rPr sz="5400">
                <a:solidFill>
                  <a:srgbClr val="FCE8EA"/>
                </a:solidFill>
                <a:latin typeface="Marcellus"/>
              </a:rPr>
              <a:t>Master Your Emotions</a:t>
            </a:r>
          </a:p>
        </p:txBody>
      </p:sp>
      <p:sp>
        <p:nvSpPr>
          <p:cNvPr id="4" name="Rectangle 3"/>
          <p:cNvSpPr/>
          <p:nvPr/>
        </p:nvSpPr>
        <p:spPr>
          <a:xfrm>
            <a:off x="822960" y="3977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297680"/>
            <a:ext cx="10515600" cy="2926080"/>
          </a:xfrm>
          <a:prstGeom prst="rect">
            <a:avLst/>
          </a:prstGeom>
          <a:noFill/>
        </p:spPr>
        <p:txBody>
          <a:bodyPr wrap="square">
            <a:spAutoFit/>
          </a:bodyPr>
          <a:lstStyle/>
          <a:p>
            <a:pPr>
              <a:spcAft>
                <a:spcPts val="1200"/>
              </a:spcAft>
            </a:pPr>
            <a:r>
              <a:rPr sz="2700" i="0">
                <a:solidFill>
                  <a:srgbClr val="FCE8EA"/>
                </a:solidFill>
                <a:latin typeface="Lora"/>
              </a:rPr>
              <a:t>Safety and self-compassion.</a:t>
            </a:r>
          </a:p>
        </p:txBody>
      </p:sp>
      <p:sp>
        <p:nvSpPr>
          <p:cNvPr id="6" name="TextBox 5"/>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E8EA"/>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5400">
                <a:solidFill>
                  <a:srgbClr val="1D283C"/>
                </a:solidFill>
                <a:latin typeface="Marcellus"/>
              </a:rPr>
              <a:t>Lack of safety is the problem.</a:t>
            </a:r>
          </a:p>
        </p:txBody>
      </p:sp>
      <p:sp>
        <p:nvSpPr>
          <p:cNvPr id="3" name="Rectangle 2"/>
          <p:cNvSpPr/>
          <p:nvPr/>
        </p:nvSpPr>
        <p:spPr>
          <a:xfrm>
            <a:off x="822960" y="3977640"/>
            <a:ext cx="1463040" cy="38100"/>
          </a:xfrm>
          <a:prstGeom prst="rect">
            <a:avLst/>
          </a:prstGeom>
          <a:solidFill>
            <a:srgbClr val="742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297680"/>
            <a:ext cx="10515600" cy="2926080"/>
          </a:xfrm>
          <a:prstGeom prst="rect">
            <a:avLst/>
          </a:prstGeom>
          <a:noFill/>
        </p:spPr>
        <p:txBody>
          <a:bodyPr wrap="square">
            <a:spAutoFit/>
          </a:bodyPr>
          <a:lstStyle/>
          <a:p>
            <a:pPr>
              <a:spcAft>
                <a:spcPts val="1200"/>
              </a:spcAft>
            </a:pPr>
            <a:r>
              <a:rPr sz="2700" i="0">
                <a:solidFill>
                  <a:srgbClr val="1D283C"/>
                </a:solidFill>
                <a:latin typeface="Lora"/>
              </a:rPr>
              <a:t>Not the emotions. Emotions aren't dangerous. Being flooded is.</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74234F"/>
                </a:solidFill>
                <a:latin typeface="Lora"/>
              </a:rPr>
              <a:t>SEXUALEMPOWERMENTFORWOMEN.COM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74234F"/>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4000">
                <a:solidFill>
                  <a:srgbClr val="FCE8EA"/>
                </a:solidFill>
                <a:latin typeface="Marcellus"/>
              </a:rPr>
              <a:t>Start with safety.</a:t>
            </a:r>
          </a:p>
        </p:txBody>
      </p:sp>
      <p:sp>
        <p:nvSpPr>
          <p:cNvPr id="3" name="Rectangle 2"/>
          <p:cNvSpPr/>
          <p:nvPr/>
        </p:nvSpPr>
        <p:spPr>
          <a:xfrm>
            <a:off x="822960" y="2834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54680"/>
            <a:ext cx="10515600" cy="2926080"/>
          </a:xfrm>
          <a:prstGeom prst="rect">
            <a:avLst/>
          </a:prstGeom>
          <a:noFill/>
        </p:spPr>
        <p:txBody>
          <a:bodyPr wrap="square">
            <a:spAutoFit/>
          </a:bodyPr>
          <a:lstStyle/>
          <a:p>
            <a:pPr>
              <a:spcAft>
                <a:spcPts val="1200"/>
              </a:spcAft>
            </a:pPr>
            <a:r>
              <a:rPr sz="2700" i="0">
                <a:solidFill>
                  <a:srgbClr val="FCE8EA"/>
                </a:solidFill>
                <a:latin typeface="Lora"/>
              </a:rPr>
              <a:t>We only expand, feel more, open more, when we're not overwhelmed and not sliding into our old patterns.</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D283C"/>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4000">
                <a:solidFill>
                  <a:srgbClr val="FCE8EA"/>
                </a:solidFill>
                <a:latin typeface="Marcellus"/>
              </a:rPr>
              <a:t>What safety is</a:t>
            </a:r>
          </a:p>
        </p:txBody>
      </p:sp>
      <p:sp>
        <p:nvSpPr>
          <p:cNvPr id="3" name="Rectangle 2"/>
          <p:cNvSpPr/>
          <p:nvPr/>
        </p:nvSpPr>
        <p:spPr>
          <a:xfrm>
            <a:off x="822960" y="2834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54680"/>
            <a:ext cx="10515600" cy="2926080"/>
          </a:xfrm>
          <a:prstGeom prst="rect">
            <a:avLst/>
          </a:prstGeom>
          <a:noFill/>
        </p:spPr>
        <p:txBody>
          <a:bodyPr wrap="square">
            <a:spAutoFit/>
          </a:bodyPr>
          <a:lstStyle/>
          <a:p>
            <a:pPr>
              <a:spcAft>
                <a:spcPts val="1200"/>
              </a:spcAft>
            </a:pPr>
            <a:r>
              <a:rPr sz="2300" i="0">
                <a:solidFill>
                  <a:srgbClr val="FCE8EA"/>
                </a:solidFill>
                <a:latin typeface="Lora"/>
              </a:rPr>
              <a:t>•  I'm connected to myself.</a:t>
            </a:r>
          </a:p>
          <a:p>
            <a:pPr>
              <a:spcAft>
                <a:spcPts val="1200"/>
              </a:spcAft>
            </a:pPr>
            <a:r>
              <a:rPr sz="2300" i="0">
                <a:solidFill>
                  <a:srgbClr val="FCE8EA"/>
                </a:solidFill>
                <a:latin typeface="Lora"/>
              </a:rPr>
              <a:t>•  I feel what's good for me.</a:t>
            </a:r>
          </a:p>
          <a:p>
            <a:pPr>
              <a:spcAft>
                <a:spcPts val="1200"/>
              </a:spcAft>
            </a:pPr>
            <a:r>
              <a:rPr sz="2300" i="0">
                <a:solidFill>
                  <a:srgbClr val="FCE8EA"/>
                </a:solidFill>
                <a:latin typeface="Lora"/>
              </a:rPr>
              <a:t>•  I test it out.</a:t>
            </a:r>
          </a:p>
          <a:p>
            <a:pPr>
              <a:spcAft>
                <a:spcPts val="1200"/>
              </a:spcAft>
            </a:pPr>
            <a:r>
              <a:rPr sz="2300" i="0">
                <a:solidFill>
                  <a:srgbClr val="FCE8EA"/>
                </a:solidFill>
                <a:latin typeface="Lora"/>
              </a:rPr>
              <a:t>•  I read how the other responds.</a:t>
            </a:r>
          </a:p>
          <a:p>
            <a:pPr>
              <a:spcAft>
                <a:spcPts val="1200"/>
              </a:spcAft>
            </a:pPr>
            <a:r>
              <a:rPr sz="2300" i="0">
                <a:solidFill>
                  <a:srgbClr val="FCE8EA"/>
                </a:solidFill>
                <a:latin typeface="Lora"/>
              </a:rPr>
              <a:t>•  Then I step forward, or step away.</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C9A86D"/>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4000">
                <a:solidFill>
                  <a:srgbClr val="1D283C"/>
                </a:solidFill>
                <a:latin typeface="Marcellus"/>
              </a:rPr>
              <a:t>Then, no overwhelm.</a:t>
            </a:r>
          </a:p>
        </p:txBody>
      </p:sp>
      <p:sp>
        <p:nvSpPr>
          <p:cNvPr id="3" name="Rectangle 2"/>
          <p:cNvSpPr/>
          <p:nvPr/>
        </p:nvSpPr>
        <p:spPr>
          <a:xfrm>
            <a:off x="822960" y="2834640"/>
            <a:ext cx="1463040" cy="38100"/>
          </a:xfrm>
          <a:prstGeom prst="rect">
            <a:avLst/>
          </a:prstGeom>
          <a:solidFill>
            <a:srgbClr val="742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54680"/>
            <a:ext cx="10515600" cy="2926080"/>
          </a:xfrm>
          <a:prstGeom prst="rect">
            <a:avLst/>
          </a:prstGeom>
          <a:noFill/>
        </p:spPr>
        <p:txBody>
          <a:bodyPr wrap="square">
            <a:spAutoFit/>
          </a:bodyPr>
          <a:lstStyle/>
          <a:p>
            <a:pPr>
              <a:spcAft>
                <a:spcPts val="1200"/>
              </a:spcAft>
            </a:pPr>
            <a:r>
              <a:rPr sz="2700" i="0">
                <a:solidFill>
                  <a:srgbClr val="1D283C"/>
                </a:solidFill>
                <a:latin typeface="Lora"/>
              </a:rPr>
              <a:t>Because I never abandon myself to cope. I stay with me the whole way.</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74234F"/>
                </a:solidFill>
                <a:latin typeface="Lora"/>
              </a:rPr>
              <a:t>SEXUALEMPOWERMENTFORWOMEN.COM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4BBC2"/>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none">
            <a:spAutoFit/>
          </a:bodyPr>
          <a:lstStyle/>
          <a:p>
            <a:r>
              <a:rPr sz="1500" b="1">
                <a:solidFill>
                  <a:srgbClr val="74234F"/>
                </a:solidFill>
                <a:latin typeface="Lora"/>
              </a:rPr>
              <a:t>BEFORE THE BREAKOUT</a:t>
            </a:r>
          </a:p>
        </p:txBody>
      </p:sp>
      <p:sp>
        <p:nvSpPr>
          <p:cNvPr id="3" name="TextBox 2"/>
          <p:cNvSpPr txBox="1"/>
          <p:nvPr/>
        </p:nvSpPr>
        <p:spPr>
          <a:xfrm>
            <a:off x="822960" y="1005840"/>
            <a:ext cx="10515600" cy="2926080"/>
          </a:xfrm>
          <a:prstGeom prst="rect">
            <a:avLst/>
          </a:prstGeom>
          <a:noFill/>
        </p:spPr>
        <p:txBody>
          <a:bodyPr wrap="square" anchor="t">
            <a:spAutoFit/>
          </a:bodyPr>
          <a:lstStyle/>
          <a:p>
            <a:r>
              <a:rPr sz="4000">
                <a:solidFill>
                  <a:srgbClr val="1D283C"/>
                </a:solidFill>
                <a:latin typeface="Marcellus"/>
              </a:rPr>
              <a:t>Reflect</a:t>
            </a:r>
          </a:p>
        </p:txBody>
      </p:sp>
      <p:sp>
        <p:nvSpPr>
          <p:cNvPr id="4" name="Rectangle 3"/>
          <p:cNvSpPr/>
          <p:nvPr/>
        </p:nvSpPr>
        <p:spPr>
          <a:xfrm>
            <a:off x="822960" y="2834640"/>
            <a:ext cx="1463040" cy="38100"/>
          </a:xfrm>
          <a:prstGeom prst="rect">
            <a:avLst/>
          </a:prstGeom>
          <a:solidFill>
            <a:srgbClr val="742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154680"/>
            <a:ext cx="10515600" cy="2926080"/>
          </a:xfrm>
          <a:prstGeom prst="rect">
            <a:avLst/>
          </a:prstGeom>
          <a:noFill/>
        </p:spPr>
        <p:txBody>
          <a:bodyPr wrap="square">
            <a:spAutoFit/>
          </a:bodyPr>
          <a:lstStyle/>
          <a:p>
            <a:pPr>
              <a:spcAft>
                <a:spcPts val="1200"/>
              </a:spcAft>
            </a:pPr>
            <a:r>
              <a:rPr sz="2300" i="0">
                <a:solidFill>
                  <a:srgbClr val="1D283C"/>
                </a:solidFill>
                <a:latin typeface="Lora"/>
              </a:rPr>
              <a:t>•  When do I feel safe? When do I not?</a:t>
            </a:r>
          </a:p>
          <a:p>
            <a:pPr>
              <a:spcAft>
                <a:spcPts val="1200"/>
              </a:spcAft>
            </a:pPr>
            <a:r>
              <a:rPr sz="2300" i="0">
                <a:solidFill>
                  <a:srgbClr val="1D283C"/>
                </a:solidFill>
                <a:latin typeface="Lora"/>
              </a:rPr>
              <a:t>•  Where do I abandon myself to keep the peace?</a:t>
            </a:r>
          </a:p>
          <a:p>
            <a:pPr>
              <a:spcAft>
                <a:spcPts val="1200"/>
              </a:spcAft>
            </a:pPr>
            <a:r>
              <a:rPr sz="2300" i="0">
                <a:solidFill>
                  <a:srgbClr val="1D283C"/>
                </a:solidFill>
                <a:latin typeface="Lora"/>
              </a:rPr>
              <a:t>•  What does it feel like in my body when I leave myself?</a:t>
            </a:r>
          </a:p>
        </p:txBody>
      </p:sp>
      <p:sp>
        <p:nvSpPr>
          <p:cNvPr id="6" name="TextBox 5"/>
          <p:cNvSpPr txBox="1"/>
          <p:nvPr/>
        </p:nvSpPr>
        <p:spPr>
          <a:xfrm>
            <a:off x="822960" y="6263640"/>
            <a:ext cx="10515600" cy="365760"/>
          </a:xfrm>
          <a:prstGeom prst="rect">
            <a:avLst/>
          </a:prstGeom>
          <a:noFill/>
        </p:spPr>
        <p:txBody>
          <a:bodyPr wrap="none">
            <a:spAutoFit/>
          </a:bodyPr>
          <a:lstStyle/>
          <a:p>
            <a:r>
              <a:rPr sz="1100">
                <a:solidFill>
                  <a:srgbClr val="74234F"/>
                </a:solidFill>
                <a:latin typeface="Lora"/>
              </a:rPr>
              <a:t>SEXUALEMPOWERMENTFORWOMEN.COM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24652"/>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none">
            <a:spAutoFit/>
          </a:bodyPr>
          <a:lstStyle/>
          <a:p>
            <a:r>
              <a:rPr sz="1500" b="1">
                <a:solidFill>
                  <a:srgbClr val="C9A86D"/>
                </a:solidFill>
                <a:latin typeface="Lora"/>
              </a:rPr>
              <a:t>IN PAIRS</a:t>
            </a:r>
          </a:p>
        </p:txBody>
      </p:sp>
      <p:sp>
        <p:nvSpPr>
          <p:cNvPr id="3" name="TextBox 2"/>
          <p:cNvSpPr txBox="1"/>
          <p:nvPr/>
        </p:nvSpPr>
        <p:spPr>
          <a:xfrm>
            <a:off x="822960" y="1005840"/>
            <a:ext cx="10515600" cy="2926080"/>
          </a:xfrm>
          <a:prstGeom prst="rect">
            <a:avLst/>
          </a:prstGeom>
          <a:noFill/>
        </p:spPr>
        <p:txBody>
          <a:bodyPr wrap="square" anchor="t">
            <a:spAutoFit/>
          </a:bodyPr>
          <a:lstStyle/>
          <a:p>
            <a:r>
              <a:rPr sz="4000">
                <a:solidFill>
                  <a:srgbClr val="FCE8EA"/>
                </a:solidFill>
                <a:latin typeface="Marcellus"/>
              </a:rPr>
              <a:t>Breakout · My safety</a:t>
            </a:r>
          </a:p>
        </p:txBody>
      </p:sp>
      <p:sp>
        <p:nvSpPr>
          <p:cNvPr id="4" name="Rectangle 3"/>
          <p:cNvSpPr/>
          <p:nvPr/>
        </p:nvSpPr>
        <p:spPr>
          <a:xfrm>
            <a:off x="822960" y="2834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154680"/>
            <a:ext cx="10515600" cy="2926080"/>
          </a:xfrm>
          <a:prstGeom prst="rect">
            <a:avLst/>
          </a:prstGeom>
          <a:noFill/>
        </p:spPr>
        <p:txBody>
          <a:bodyPr wrap="square">
            <a:spAutoFit/>
          </a:bodyPr>
          <a:lstStyle/>
          <a:p>
            <a:pPr>
              <a:spcAft>
                <a:spcPts val="1200"/>
              </a:spcAft>
            </a:pPr>
            <a:r>
              <a:rPr sz="2300" i="0">
                <a:solidFill>
                  <a:srgbClr val="FCE8EA"/>
                </a:solidFill>
                <a:latin typeface="Lora"/>
              </a:rPr>
              <a:t>•  One place I feel safe is... one place I don't is...</a:t>
            </a:r>
          </a:p>
          <a:p>
            <a:pPr>
              <a:spcAft>
                <a:spcPts val="1200"/>
              </a:spcAft>
            </a:pPr>
            <a:r>
              <a:rPr sz="2300" i="0">
                <a:solidFill>
                  <a:srgbClr val="FCE8EA"/>
                </a:solidFill>
                <a:latin typeface="Lora"/>
              </a:rPr>
              <a:t>•  One way I abandon myself is...</a:t>
            </a:r>
          </a:p>
          <a:p>
            <a:pPr>
              <a:spcAft>
                <a:spcPts val="1200"/>
              </a:spcAft>
            </a:pPr>
            <a:r>
              <a:rPr sz="2300" i="0">
                <a:solidFill>
                  <a:srgbClr val="FCE8EA"/>
                </a:solidFill>
                <a:latin typeface="Lora"/>
              </a:rPr>
              <a:t>•  Partner: just witness. Then swap.</a:t>
            </a:r>
          </a:p>
        </p:txBody>
      </p:sp>
      <p:sp>
        <p:nvSpPr>
          <p:cNvPr id="6" name="TextBox 5"/>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74234F"/>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4000">
                <a:solidFill>
                  <a:srgbClr val="FCE8EA"/>
                </a:solidFill>
                <a:latin typeface="Marcellus"/>
              </a:rPr>
              <a:t>The loop</a:t>
            </a:r>
          </a:p>
        </p:txBody>
      </p:sp>
      <p:sp>
        <p:nvSpPr>
          <p:cNvPr id="3" name="Rectangle 2"/>
          <p:cNvSpPr/>
          <p:nvPr/>
        </p:nvSpPr>
        <p:spPr>
          <a:xfrm>
            <a:off x="822960" y="2834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54680"/>
            <a:ext cx="10515600" cy="2926080"/>
          </a:xfrm>
          <a:prstGeom prst="rect">
            <a:avLst/>
          </a:prstGeom>
          <a:noFill/>
        </p:spPr>
        <p:txBody>
          <a:bodyPr wrap="square">
            <a:spAutoFit/>
          </a:bodyPr>
          <a:lstStyle/>
          <a:p>
            <a:pPr>
              <a:spcAft>
                <a:spcPts val="1200"/>
              </a:spcAft>
            </a:pPr>
            <a:r>
              <a:rPr sz="2700" i="0">
                <a:solidFill>
                  <a:srgbClr val="FCE8EA"/>
                </a:solidFill>
                <a:latin typeface="Lora"/>
              </a:rPr>
              <a:t>Stress makes emotions. Emotions make stress. So we reach for something to fill the hole.</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E8EA"/>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4000">
                <a:solidFill>
                  <a:srgbClr val="1D283C"/>
                </a:solidFill>
                <a:latin typeface="Marcellus"/>
              </a:rPr>
              <a:t>The hole can't be filled from outside</a:t>
            </a:r>
          </a:p>
        </p:txBody>
      </p:sp>
      <p:sp>
        <p:nvSpPr>
          <p:cNvPr id="3" name="Rectangle 2"/>
          <p:cNvSpPr/>
          <p:nvPr/>
        </p:nvSpPr>
        <p:spPr>
          <a:xfrm>
            <a:off x="822960" y="2834640"/>
            <a:ext cx="1463040" cy="38100"/>
          </a:xfrm>
          <a:prstGeom prst="rect">
            <a:avLst/>
          </a:prstGeom>
          <a:solidFill>
            <a:srgbClr val="742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54680"/>
            <a:ext cx="10515600" cy="2926080"/>
          </a:xfrm>
          <a:prstGeom prst="rect">
            <a:avLst/>
          </a:prstGeom>
          <a:noFill/>
        </p:spPr>
        <p:txBody>
          <a:bodyPr wrap="square">
            <a:spAutoFit/>
          </a:bodyPr>
          <a:lstStyle/>
          <a:p>
            <a:pPr>
              <a:spcAft>
                <a:spcPts val="1200"/>
              </a:spcAft>
            </a:pPr>
            <a:r>
              <a:rPr sz="2700" i="0">
                <a:solidFill>
                  <a:srgbClr val="1D283C"/>
                </a:solidFill>
                <a:latin typeface="Lora"/>
              </a:rPr>
              <a:t>There's no signal that says your emotional need is met. The fix backfires, and the feeling still waits to be heard.</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74234F"/>
                </a:solidFill>
                <a:latin typeface="Lora"/>
              </a:rPr>
              <a:t>SEXUALEMPOWERMENTFORWOMEN.COM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D283C"/>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5400">
                <a:solidFill>
                  <a:srgbClr val="FCE8EA"/>
                </a:solidFill>
                <a:latin typeface="Marcellus"/>
              </a:rPr>
              <a:t>Emotions are the messengers.</a:t>
            </a:r>
          </a:p>
        </p:txBody>
      </p:sp>
      <p:sp>
        <p:nvSpPr>
          <p:cNvPr id="3" name="Rectangle 2"/>
          <p:cNvSpPr/>
          <p:nvPr/>
        </p:nvSpPr>
        <p:spPr>
          <a:xfrm>
            <a:off x="822960" y="3977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297680"/>
            <a:ext cx="10515600" cy="2926080"/>
          </a:xfrm>
          <a:prstGeom prst="rect">
            <a:avLst/>
          </a:prstGeom>
          <a:noFill/>
        </p:spPr>
        <p:txBody>
          <a:bodyPr wrap="square">
            <a:spAutoFit/>
          </a:bodyPr>
          <a:lstStyle/>
          <a:p>
            <a:pPr>
              <a:spcAft>
                <a:spcPts val="1200"/>
              </a:spcAft>
            </a:pPr>
            <a:r>
              <a:rPr sz="2700" i="0">
                <a:solidFill>
                  <a:srgbClr val="FCE8EA"/>
                </a:solidFill>
                <a:latin typeface="Lora"/>
              </a:rPr>
              <a:t>Ignore them and they don't go away. They get louder. They start screaming until we listen.</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7CA1A5"/>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none">
            <a:spAutoFit/>
          </a:bodyPr>
          <a:lstStyle/>
          <a:p>
            <a:r>
              <a:rPr sz="1500" b="1">
                <a:solidFill>
                  <a:srgbClr val="74234F"/>
                </a:solidFill>
                <a:latin typeface="Lora"/>
              </a:rPr>
              <a:t>ONE MINUTE</a:t>
            </a:r>
          </a:p>
        </p:txBody>
      </p:sp>
      <p:sp>
        <p:nvSpPr>
          <p:cNvPr id="3" name="TextBox 2"/>
          <p:cNvSpPr txBox="1"/>
          <p:nvPr/>
        </p:nvSpPr>
        <p:spPr>
          <a:xfrm>
            <a:off x="822960" y="1005840"/>
            <a:ext cx="10515600" cy="2926080"/>
          </a:xfrm>
          <a:prstGeom prst="rect">
            <a:avLst/>
          </a:prstGeom>
          <a:noFill/>
        </p:spPr>
        <p:txBody>
          <a:bodyPr wrap="square" anchor="t">
            <a:spAutoFit/>
          </a:bodyPr>
          <a:lstStyle/>
          <a:p>
            <a:r>
              <a:rPr sz="4000">
                <a:solidFill>
                  <a:srgbClr val="1D283C"/>
                </a:solidFill>
                <a:latin typeface="Marcellus"/>
              </a:rPr>
              <a:t>Reflection</a:t>
            </a:r>
          </a:p>
        </p:txBody>
      </p:sp>
      <p:sp>
        <p:nvSpPr>
          <p:cNvPr id="4" name="Rectangle 3"/>
          <p:cNvSpPr/>
          <p:nvPr/>
        </p:nvSpPr>
        <p:spPr>
          <a:xfrm>
            <a:off x="822960" y="2834640"/>
            <a:ext cx="1463040" cy="38100"/>
          </a:xfrm>
          <a:prstGeom prst="rect">
            <a:avLst/>
          </a:prstGeom>
          <a:solidFill>
            <a:srgbClr val="742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154680"/>
            <a:ext cx="10515600" cy="2926080"/>
          </a:xfrm>
          <a:prstGeom prst="rect">
            <a:avLst/>
          </a:prstGeom>
          <a:noFill/>
        </p:spPr>
        <p:txBody>
          <a:bodyPr wrap="square">
            <a:spAutoFit/>
          </a:bodyPr>
          <a:lstStyle/>
          <a:p>
            <a:pPr>
              <a:spcAft>
                <a:spcPts val="1200"/>
              </a:spcAft>
            </a:pPr>
            <a:r>
              <a:rPr sz="2700" i="0">
                <a:solidFill>
                  <a:srgbClr val="1D283C"/>
                </a:solidFill>
                <a:latin typeface="Lora"/>
              </a:rPr>
              <a:t>What do you reach for when a feeling gets too big?</a:t>
            </a:r>
          </a:p>
        </p:txBody>
      </p:sp>
      <p:sp>
        <p:nvSpPr>
          <p:cNvPr id="6" name="TextBox 5"/>
          <p:cNvSpPr txBox="1"/>
          <p:nvPr/>
        </p:nvSpPr>
        <p:spPr>
          <a:xfrm>
            <a:off x="822960" y="6263640"/>
            <a:ext cx="10515600" cy="365760"/>
          </a:xfrm>
          <a:prstGeom prst="rect">
            <a:avLst/>
          </a:prstGeom>
          <a:noFill/>
        </p:spPr>
        <p:txBody>
          <a:bodyPr wrap="none">
            <a:spAutoFit/>
          </a:bodyPr>
          <a:lstStyle/>
          <a:p>
            <a:r>
              <a:rPr sz="1100">
                <a:solidFill>
                  <a:srgbClr val="74234F"/>
                </a:solidFill>
                <a:latin typeface="Lora"/>
              </a:rPr>
              <a:t>SEXUALEMPOWERMENTFORWOMEN.COM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C9A86D"/>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none">
            <a:spAutoFit/>
          </a:bodyPr>
          <a:lstStyle/>
          <a:p>
            <a:r>
              <a:rPr sz="1500" b="1">
                <a:solidFill>
                  <a:srgbClr val="74234F"/>
                </a:solidFill>
                <a:latin typeface="Lora"/>
              </a:rPr>
              <a:t>DR LINDA BACON</a:t>
            </a:r>
          </a:p>
        </p:txBody>
      </p:sp>
      <p:sp>
        <p:nvSpPr>
          <p:cNvPr id="3" name="TextBox 2"/>
          <p:cNvSpPr txBox="1"/>
          <p:nvPr/>
        </p:nvSpPr>
        <p:spPr>
          <a:xfrm>
            <a:off x="822960" y="1005840"/>
            <a:ext cx="10515600" cy="2926080"/>
          </a:xfrm>
          <a:prstGeom prst="rect">
            <a:avLst/>
          </a:prstGeom>
          <a:noFill/>
        </p:spPr>
        <p:txBody>
          <a:bodyPr wrap="square" anchor="t">
            <a:spAutoFit/>
          </a:bodyPr>
          <a:lstStyle/>
          <a:p>
            <a:r>
              <a:rPr sz="4000">
                <a:solidFill>
                  <a:srgbClr val="1D283C"/>
                </a:solidFill>
                <a:latin typeface="Marcellus"/>
              </a:rPr>
              <a:t>The reframe</a:t>
            </a:r>
          </a:p>
        </p:txBody>
      </p:sp>
      <p:sp>
        <p:nvSpPr>
          <p:cNvPr id="4" name="Rectangle 3"/>
          <p:cNvSpPr/>
          <p:nvPr/>
        </p:nvSpPr>
        <p:spPr>
          <a:xfrm>
            <a:off x="822960" y="2834640"/>
            <a:ext cx="1463040" cy="38100"/>
          </a:xfrm>
          <a:prstGeom prst="rect">
            <a:avLst/>
          </a:prstGeom>
          <a:solidFill>
            <a:srgbClr val="742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154680"/>
            <a:ext cx="10515600" cy="2926080"/>
          </a:xfrm>
          <a:prstGeom prst="rect">
            <a:avLst/>
          </a:prstGeom>
          <a:noFill/>
        </p:spPr>
        <p:txBody>
          <a:bodyPr wrap="square">
            <a:spAutoFit/>
          </a:bodyPr>
          <a:lstStyle/>
          <a:p>
            <a:pPr>
              <a:spcAft>
                <a:spcPts val="1200"/>
              </a:spcAft>
            </a:pPr>
            <a:r>
              <a:rPr sz="2700" i="0">
                <a:solidFill>
                  <a:srgbClr val="1D283C"/>
                </a:solidFill>
                <a:latin typeface="Lora"/>
              </a:rPr>
              <a:t>If you numb, you don't have a problem with food or wine or your phone. You have a problem with taking care of yourself.</a:t>
            </a:r>
          </a:p>
        </p:txBody>
      </p:sp>
      <p:sp>
        <p:nvSpPr>
          <p:cNvPr id="6" name="TextBox 5"/>
          <p:cNvSpPr txBox="1"/>
          <p:nvPr/>
        </p:nvSpPr>
        <p:spPr>
          <a:xfrm>
            <a:off x="822960" y="6263640"/>
            <a:ext cx="10515600" cy="365760"/>
          </a:xfrm>
          <a:prstGeom prst="rect">
            <a:avLst/>
          </a:prstGeom>
          <a:noFill/>
        </p:spPr>
        <p:txBody>
          <a:bodyPr wrap="none">
            <a:spAutoFit/>
          </a:bodyPr>
          <a:lstStyle/>
          <a:p>
            <a:r>
              <a:rPr sz="1100">
                <a:solidFill>
                  <a:srgbClr val="74234F"/>
                </a:solidFill>
                <a:latin typeface="Lora"/>
              </a:rPr>
              <a:t>SEXUALEMPOWERMENTFORWOMEN.COM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4BBC2"/>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none">
            <a:spAutoFit/>
          </a:bodyPr>
          <a:lstStyle/>
          <a:p>
            <a:r>
              <a:rPr sz="1500" b="1">
                <a:solidFill>
                  <a:srgbClr val="74234F"/>
                </a:solidFill>
                <a:latin typeface="Lora"/>
              </a:rPr>
              <a:t>HANDS ON HEART</a:t>
            </a:r>
          </a:p>
        </p:txBody>
      </p:sp>
      <p:sp>
        <p:nvSpPr>
          <p:cNvPr id="3" name="TextBox 2"/>
          <p:cNvSpPr txBox="1"/>
          <p:nvPr/>
        </p:nvSpPr>
        <p:spPr>
          <a:xfrm>
            <a:off x="822960" y="1005840"/>
            <a:ext cx="10515600" cy="2926080"/>
          </a:xfrm>
          <a:prstGeom prst="rect">
            <a:avLst/>
          </a:prstGeom>
          <a:noFill/>
        </p:spPr>
        <p:txBody>
          <a:bodyPr wrap="square" anchor="t">
            <a:spAutoFit/>
          </a:bodyPr>
          <a:lstStyle/>
          <a:p>
            <a:r>
              <a:rPr sz="4000">
                <a:solidFill>
                  <a:srgbClr val="1D283C"/>
                </a:solidFill>
                <a:latin typeface="Marcellus"/>
              </a:rPr>
              <a:t>Self-compassion</a:t>
            </a:r>
          </a:p>
        </p:txBody>
      </p:sp>
      <p:sp>
        <p:nvSpPr>
          <p:cNvPr id="4" name="Rectangle 3"/>
          <p:cNvSpPr/>
          <p:nvPr/>
        </p:nvSpPr>
        <p:spPr>
          <a:xfrm>
            <a:off x="822960" y="2834640"/>
            <a:ext cx="1463040" cy="38100"/>
          </a:xfrm>
          <a:prstGeom prst="rect">
            <a:avLst/>
          </a:prstGeom>
          <a:solidFill>
            <a:srgbClr val="742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154680"/>
            <a:ext cx="10515600" cy="2926080"/>
          </a:xfrm>
          <a:prstGeom prst="rect">
            <a:avLst/>
          </a:prstGeom>
          <a:noFill/>
        </p:spPr>
        <p:txBody>
          <a:bodyPr wrap="square">
            <a:spAutoFit/>
          </a:bodyPr>
          <a:lstStyle/>
          <a:p>
            <a:pPr>
              <a:spcAft>
                <a:spcPts val="1200"/>
              </a:spcAft>
            </a:pPr>
            <a:r>
              <a:rPr sz="2300" i="0">
                <a:solidFill>
                  <a:srgbClr val="1D283C"/>
                </a:solidFill>
                <a:latin typeface="Lora"/>
              </a:rPr>
              <a:t>•  How do you feel? What's going on for you?</a:t>
            </a:r>
          </a:p>
          <a:p>
            <a:pPr>
              <a:spcAft>
                <a:spcPts val="1200"/>
              </a:spcAft>
            </a:pPr>
            <a:r>
              <a:rPr sz="2300" i="0">
                <a:solidFill>
                  <a:srgbClr val="1D283C"/>
                </a:solidFill>
                <a:latin typeface="Lora"/>
              </a:rPr>
              <a:t>•  I hear you feel...</a:t>
            </a:r>
          </a:p>
          <a:p>
            <a:pPr>
              <a:spcAft>
                <a:spcPts val="1200"/>
              </a:spcAft>
            </a:pPr>
            <a:r>
              <a:rPr sz="2300" i="0">
                <a:solidFill>
                  <a:srgbClr val="1D283C"/>
                </a:solidFill>
                <a:latin typeface="Lora"/>
              </a:rPr>
              <a:t>•  I see this is difficult. I am here.</a:t>
            </a:r>
          </a:p>
        </p:txBody>
      </p:sp>
      <p:sp>
        <p:nvSpPr>
          <p:cNvPr id="6" name="TextBox 5"/>
          <p:cNvSpPr txBox="1"/>
          <p:nvPr/>
        </p:nvSpPr>
        <p:spPr>
          <a:xfrm>
            <a:off x="822960" y="6263640"/>
            <a:ext cx="10515600" cy="365760"/>
          </a:xfrm>
          <a:prstGeom prst="rect">
            <a:avLst/>
          </a:prstGeom>
          <a:noFill/>
        </p:spPr>
        <p:txBody>
          <a:bodyPr wrap="none">
            <a:spAutoFit/>
          </a:bodyPr>
          <a:lstStyle/>
          <a:p>
            <a:r>
              <a:rPr sz="1100">
                <a:solidFill>
                  <a:srgbClr val="74234F"/>
                </a:solidFill>
                <a:latin typeface="Lora"/>
              </a:rPr>
              <a:t>SEXUALEMPOWERMENTFORWOMEN.COM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24652"/>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none">
            <a:spAutoFit/>
          </a:bodyPr>
          <a:lstStyle/>
          <a:p>
            <a:r>
              <a:rPr sz="1500" b="1">
                <a:solidFill>
                  <a:srgbClr val="C9A86D"/>
                </a:solidFill>
                <a:latin typeface="Lora"/>
              </a:rPr>
              <a:t>IN PAIRS</a:t>
            </a:r>
          </a:p>
        </p:txBody>
      </p:sp>
      <p:sp>
        <p:nvSpPr>
          <p:cNvPr id="3" name="TextBox 2"/>
          <p:cNvSpPr txBox="1"/>
          <p:nvPr/>
        </p:nvSpPr>
        <p:spPr>
          <a:xfrm>
            <a:off x="822960" y="1005840"/>
            <a:ext cx="10515600" cy="2926080"/>
          </a:xfrm>
          <a:prstGeom prst="rect">
            <a:avLst/>
          </a:prstGeom>
          <a:noFill/>
        </p:spPr>
        <p:txBody>
          <a:bodyPr wrap="square" anchor="t">
            <a:spAutoFit/>
          </a:bodyPr>
          <a:lstStyle/>
          <a:p>
            <a:r>
              <a:rPr sz="4000">
                <a:solidFill>
                  <a:srgbClr val="FCE8EA"/>
                </a:solidFill>
                <a:latin typeface="Marcellus"/>
              </a:rPr>
              <a:t>Breakout · Self-compassion</a:t>
            </a:r>
          </a:p>
        </p:txBody>
      </p:sp>
      <p:sp>
        <p:nvSpPr>
          <p:cNvPr id="4" name="Rectangle 3"/>
          <p:cNvSpPr/>
          <p:nvPr/>
        </p:nvSpPr>
        <p:spPr>
          <a:xfrm>
            <a:off x="822960" y="2834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154680"/>
            <a:ext cx="10515600" cy="2926080"/>
          </a:xfrm>
          <a:prstGeom prst="rect">
            <a:avLst/>
          </a:prstGeom>
          <a:noFill/>
        </p:spPr>
        <p:txBody>
          <a:bodyPr wrap="square">
            <a:spAutoFit/>
          </a:bodyPr>
          <a:lstStyle/>
          <a:p>
            <a:pPr>
              <a:spcAft>
                <a:spcPts val="1200"/>
              </a:spcAft>
            </a:pPr>
            <a:r>
              <a:rPr sz="2300" i="0">
                <a:solidFill>
                  <a:srgbClr val="FCE8EA"/>
                </a:solidFill>
                <a:latin typeface="Lora"/>
              </a:rPr>
              <a:t>•  Hands on heart. Say it out loud to your partner.</a:t>
            </a:r>
          </a:p>
          <a:p>
            <a:pPr>
              <a:spcAft>
                <a:spcPts val="1200"/>
              </a:spcAft>
            </a:pPr>
            <a:r>
              <a:rPr sz="2300" i="0">
                <a:solidFill>
                  <a:srgbClr val="FCE8EA"/>
                </a:solidFill>
                <a:latin typeface="Lora"/>
              </a:rPr>
              <a:t>•  Partner reflects: I hear you feel...</a:t>
            </a:r>
          </a:p>
          <a:p>
            <a:pPr>
              <a:spcAft>
                <a:spcPts val="1200"/>
              </a:spcAft>
            </a:pPr>
            <a:r>
              <a:rPr sz="2300" i="0">
                <a:solidFill>
                  <a:srgbClr val="FCE8EA"/>
                </a:solidFill>
                <a:latin typeface="Lora"/>
              </a:rPr>
              <a:t>•  No advice. Then swap.</a:t>
            </a:r>
          </a:p>
        </p:txBody>
      </p:sp>
      <p:sp>
        <p:nvSpPr>
          <p:cNvPr id="6" name="TextBox 5"/>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D283C"/>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none">
            <a:spAutoFit/>
          </a:bodyPr>
          <a:lstStyle/>
          <a:p>
            <a:r>
              <a:rPr sz="1500" b="1">
                <a:solidFill>
                  <a:srgbClr val="C9A86D"/>
                </a:solidFill>
                <a:latin typeface="Lora"/>
              </a:rPr>
              <a:t>TAKE HOME</a:t>
            </a:r>
          </a:p>
        </p:txBody>
      </p:sp>
      <p:sp>
        <p:nvSpPr>
          <p:cNvPr id="3" name="TextBox 2"/>
          <p:cNvSpPr txBox="1"/>
          <p:nvPr/>
        </p:nvSpPr>
        <p:spPr>
          <a:xfrm>
            <a:off x="822960" y="1005840"/>
            <a:ext cx="10515600" cy="2926080"/>
          </a:xfrm>
          <a:prstGeom prst="rect">
            <a:avLst/>
          </a:prstGeom>
          <a:noFill/>
        </p:spPr>
        <p:txBody>
          <a:bodyPr wrap="square" anchor="t">
            <a:spAutoFit/>
          </a:bodyPr>
          <a:lstStyle/>
          <a:p>
            <a:r>
              <a:rPr sz="4000">
                <a:solidFill>
                  <a:srgbClr val="FCE8EA"/>
                </a:solidFill>
                <a:latin typeface="Marcellus"/>
              </a:rPr>
              <a:t>This week</a:t>
            </a:r>
          </a:p>
        </p:txBody>
      </p:sp>
      <p:sp>
        <p:nvSpPr>
          <p:cNvPr id="4" name="Rectangle 3"/>
          <p:cNvSpPr/>
          <p:nvPr/>
        </p:nvSpPr>
        <p:spPr>
          <a:xfrm>
            <a:off x="822960" y="2834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154680"/>
            <a:ext cx="10515600" cy="2926080"/>
          </a:xfrm>
          <a:prstGeom prst="rect">
            <a:avLst/>
          </a:prstGeom>
          <a:noFill/>
        </p:spPr>
        <p:txBody>
          <a:bodyPr wrap="square">
            <a:spAutoFit/>
          </a:bodyPr>
          <a:lstStyle/>
          <a:p>
            <a:pPr>
              <a:spcAft>
                <a:spcPts val="1200"/>
              </a:spcAft>
            </a:pPr>
            <a:r>
              <a:rPr sz="2300" i="0">
                <a:solidFill>
                  <a:srgbClr val="FCE8EA"/>
                </a:solidFill>
                <a:latin typeface="Lora"/>
              </a:rPr>
              <a:t>•  Am I safe? Am I connected to myself?</a:t>
            </a:r>
          </a:p>
          <a:p>
            <a:pPr>
              <a:spcAft>
                <a:spcPts val="1200"/>
              </a:spcAft>
            </a:pPr>
            <a:r>
              <a:rPr sz="2300" i="0">
                <a:solidFill>
                  <a:srgbClr val="FCE8EA"/>
                </a:solidFill>
                <a:latin typeface="Lora"/>
              </a:rPr>
              <a:t>•  Hands on heart: how do you feel?</a:t>
            </a:r>
          </a:p>
          <a:p>
            <a:pPr>
              <a:spcAft>
                <a:spcPts val="1200"/>
              </a:spcAft>
            </a:pPr>
            <a:r>
              <a:rPr sz="2300" i="0">
                <a:solidFill>
                  <a:srgbClr val="FCE8EA"/>
                </a:solidFill>
                <a:latin typeface="Lora"/>
              </a:rPr>
              <a:t>•  Listen. That's the practice.</a:t>
            </a:r>
          </a:p>
        </p:txBody>
      </p:sp>
      <p:sp>
        <p:nvSpPr>
          <p:cNvPr id="6" name="TextBox 5"/>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D283C"/>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none">
            <a:spAutoFit/>
          </a:bodyPr>
          <a:lstStyle/>
          <a:p>
            <a:r>
              <a:rPr sz="1500" b="1">
                <a:solidFill>
                  <a:srgbClr val="C9A86D"/>
                </a:solidFill>
                <a:latin typeface="Lora"/>
              </a:rPr>
              <a:t>RADIANT WOMEN'S CIRCLE  ·  SESSION 2</a:t>
            </a:r>
          </a:p>
        </p:txBody>
      </p:sp>
      <p:sp>
        <p:nvSpPr>
          <p:cNvPr id="3" name="TextBox 2"/>
          <p:cNvSpPr txBox="1"/>
          <p:nvPr/>
        </p:nvSpPr>
        <p:spPr>
          <a:xfrm>
            <a:off x="822960" y="1005840"/>
            <a:ext cx="10515600" cy="2926080"/>
          </a:xfrm>
          <a:prstGeom prst="rect">
            <a:avLst/>
          </a:prstGeom>
          <a:noFill/>
        </p:spPr>
        <p:txBody>
          <a:bodyPr wrap="square" anchor="t">
            <a:spAutoFit/>
          </a:bodyPr>
          <a:lstStyle/>
          <a:p>
            <a:r>
              <a:rPr sz="5400">
                <a:solidFill>
                  <a:srgbClr val="FCE8EA"/>
                </a:solidFill>
                <a:latin typeface="Marcellus"/>
              </a:rPr>
              <a:t>Master Your Emotions</a:t>
            </a:r>
          </a:p>
        </p:txBody>
      </p:sp>
      <p:sp>
        <p:nvSpPr>
          <p:cNvPr id="4" name="Rectangle 3"/>
          <p:cNvSpPr/>
          <p:nvPr/>
        </p:nvSpPr>
        <p:spPr>
          <a:xfrm>
            <a:off x="822960" y="3977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297680"/>
            <a:ext cx="10515600" cy="2926080"/>
          </a:xfrm>
          <a:prstGeom prst="rect">
            <a:avLst/>
          </a:prstGeom>
          <a:noFill/>
        </p:spPr>
        <p:txBody>
          <a:bodyPr wrap="square">
            <a:spAutoFit/>
          </a:bodyPr>
          <a:lstStyle/>
          <a:p>
            <a:pPr>
              <a:spcAft>
                <a:spcPts val="1200"/>
              </a:spcAft>
            </a:pPr>
            <a:r>
              <a:rPr sz="2700" i="0">
                <a:solidFill>
                  <a:srgbClr val="FCE8EA"/>
                </a:solidFill>
                <a:latin typeface="Lora"/>
              </a:rPr>
              <a:t>Riding the waves, and tapping.</a:t>
            </a:r>
          </a:p>
        </p:txBody>
      </p:sp>
      <p:sp>
        <p:nvSpPr>
          <p:cNvPr id="6" name="TextBox 5"/>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74234F"/>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4000">
                <a:solidFill>
                  <a:srgbClr val="FCE8EA"/>
                </a:solidFill>
                <a:latin typeface="Marcellus"/>
              </a:rPr>
              <a:t>Anchor safety first.</a:t>
            </a:r>
          </a:p>
        </p:txBody>
      </p:sp>
      <p:sp>
        <p:nvSpPr>
          <p:cNvPr id="3" name="Rectangle 2"/>
          <p:cNvSpPr/>
          <p:nvPr/>
        </p:nvSpPr>
        <p:spPr>
          <a:xfrm>
            <a:off x="822960" y="2834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54680"/>
            <a:ext cx="10515600" cy="2926080"/>
          </a:xfrm>
          <a:prstGeom prst="rect">
            <a:avLst/>
          </a:prstGeom>
          <a:noFill/>
        </p:spPr>
        <p:txBody>
          <a:bodyPr wrap="square">
            <a:spAutoFit/>
          </a:bodyPr>
          <a:lstStyle/>
          <a:p>
            <a:pPr>
              <a:spcAft>
                <a:spcPts val="1200"/>
              </a:spcAft>
            </a:pPr>
            <a:r>
              <a:rPr sz="2700" i="0">
                <a:solidFill>
                  <a:srgbClr val="FCE8EA"/>
                </a:solidFill>
                <a:latin typeface="Lora"/>
              </a:rPr>
              <a:t>Feet on the floor. Hand on your heart. Right now, in this moment, I am here, and I am safe.</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E8EA"/>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none">
            <a:spAutoFit/>
          </a:bodyPr>
          <a:lstStyle/>
          <a:p>
            <a:r>
              <a:rPr sz="1500" b="1">
                <a:solidFill>
                  <a:srgbClr val="74234F"/>
                </a:solidFill>
                <a:latin typeface="Lora"/>
              </a:rPr>
              <a:t>BEFORE WE BEGIN</a:t>
            </a:r>
          </a:p>
        </p:txBody>
      </p:sp>
      <p:sp>
        <p:nvSpPr>
          <p:cNvPr id="3" name="TextBox 2"/>
          <p:cNvSpPr txBox="1"/>
          <p:nvPr/>
        </p:nvSpPr>
        <p:spPr>
          <a:xfrm>
            <a:off x="822960" y="1005840"/>
            <a:ext cx="10515600" cy="2926080"/>
          </a:xfrm>
          <a:prstGeom prst="rect">
            <a:avLst/>
          </a:prstGeom>
          <a:noFill/>
        </p:spPr>
        <p:txBody>
          <a:bodyPr wrap="square" anchor="t">
            <a:spAutoFit/>
          </a:bodyPr>
          <a:lstStyle/>
          <a:p>
            <a:r>
              <a:rPr sz="4000">
                <a:solidFill>
                  <a:srgbClr val="1D283C"/>
                </a:solidFill>
                <a:latin typeface="Marcellus"/>
              </a:rPr>
              <a:t>Reflect</a:t>
            </a:r>
          </a:p>
        </p:txBody>
      </p:sp>
      <p:sp>
        <p:nvSpPr>
          <p:cNvPr id="4" name="Rectangle 3"/>
          <p:cNvSpPr/>
          <p:nvPr/>
        </p:nvSpPr>
        <p:spPr>
          <a:xfrm>
            <a:off x="822960" y="2834640"/>
            <a:ext cx="1463040" cy="38100"/>
          </a:xfrm>
          <a:prstGeom prst="rect">
            <a:avLst/>
          </a:prstGeom>
          <a:solidFill>
            <a:srgbClr val="742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154680"/>
            <a:ext cx="10515600" cy="2926080"/>
          </a:xfrm>
          <a:prstGeom prst="rect">
            <a:avLst/>
          </a:prstGeom>
          <a:noFill/>
        </p:spPr>
        <p:txBody>
          <a:bodyPr wrap="square">
            <a:spAutoFit/>
          </a:bodyPr>
          <a:lstStyle/>
          <a:p>
            <a:pPr>
              <a:spcAft>
                <a:spcPts val="1200"/>
              </a:spcAft>
            </a:pPr>
            <a:r>
              <a:rPr sz="2300" i="0">
                <a:solidFill>
                  <a:srgbClr val="1D283C"/>
                </a:solidFill>
                <a:latin typeface="Lora"/>
              </a:rPr>
              <a:t>•  What feeling, if I let it, feels too big?</a:t>
            </a:r>
          </a:p>
          <a:p>
            <a:pPr>
              <a:spcAft>
                <a:spcPts val="1200"/>
              </a:spcAft>
            </a:pPr>
            <a:r>
              <a:rPr sz="2300" i="0">
                <a:solidFill>
                  <a:srgbClr val="1D283C"/>
                </a:solidFill>
                <a:latin typeface="Lora"/>
              </a:rPr>
              <a:t>•  Where do I feel it in my body? Where am I braced?</a:t>
            </a:r>
          </a:p>
          <a:p>
            <a:pPr>
              <a:spcAft>
                <a:spcPts val="1200"/>
              </a:spcAft>
            </a:pPr>
            <a:r>
              <a:rPr sz="2300" i="0">
                <a:solidFill>
                  <a:srgbClr val="1D283C"/>
                </a:solidFill>
                <a:latin typeface="Lora"/>
              </a:rPr>
              <a:t>•  What brings me back to safety?</a:t>
            </a:r>
          </a:p>
        </p:txBody>
      </p:sp>
      <p:sp>
        <p:nvSpPr>
          <p:cNvPr id="6" name="TextBox 5"/>
          <p:cNvSpPr txBox="1"/>
          <p:nvPr/>
        </p:nvSpPr>
        <p:spPr>
          <a:xfrm>
            <a:off x="822960" y="6263640"/>
            <a:ext cx="10515600" cy="365760"/>
          </a:xfrm>
          <a:prstGeom prst="rect">
            <a:avLst/>
          </a:prstGeom>
          <a:noFill/>
        </p:spPr>
        <p:txBody>
          <a:bodyPr wrap="none">
            <a:spAutoFit/>
          </a:bodyPr>
          <a:lstStyle/>
          <a:p>
            <a:r>
              <a:rPr sz="1100">
                <a:solidFill>
                  <a:srgbClr val="74234F"/>
                </a:solidFill>
                <a:latin typeface="Lora"/>
              </a:rPr>
              <a:t>SEXUALEMPOWERMENTFORWOMEN.COM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D283C"/>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5400">
                <a:solidFill>
                  <a:srgbClr val="FCE8EA"/>
                </a:solidFill>
                <a:latin typeface="Marcellus"/>
              </a:rPr>
              <a:t>Riding the wave</a:t>
            </a:r>
          </a:p>
        </p:txBody>
      </p:sp>
      <p:sp>
        <p:nvSpPr>
          <p:cNvPr id="3" name="Rectangle 2"/>
          <p:cNvSpPr/>
          <p:nvPr/>
        </p:nvSpPr>
        <p:spPr>
          <a:xfrm>
            <a:off x="822960" y="3977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297680"/>
            <a:ext cx="10515600" cy="2926080"/>
          </a:xfrm>
          <a:prstGeom prst="rect">
            <a:avLst/>
          </a:prstGeom>
          <a:noFill/>
        </p:spPr>
        <p:txBody>
          <a:bodyPr wrap="square">
            <a:spAutoFit/>
          </a:bodyPr>
          <a:lstStyle/>
          <a:p>
            <a:pPr>
              <a:spcAft>
                <a:spcPts val="1200"/>
              </a:spcAft>
            </a:pPr>
            <a:r>
              <a:rPr sz="2700" i="0">
                <a:solidFill>
                  <a:srgbClr val="FCE8EA"/>
                </a:solidFill>
                <a:latin typeface="Lora"/>
              </a:rPr>
              <a:t>Not shutting it out. Not drowning in it. Feeling into it without being taken over.</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C9A86D"/>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4000">
                <a:solidFill>
                  <a:srgbClr val="1D283C"/>
                </a:solidFill>
                <a:latin typeface="Marcellus"/>
              </a:rPr>
              <a:t>Grief comes in waves</a:t>
            </a:r>
          </a:p>
        </p:txBody>
      </p:sp>
      <p:sp>
        <p:nvSpPr>
          <p:cNvPr id="3" name="Rectangle 2"/>
          <p:cNvSpPr/>
          <p:nvPr/>
        </p:nvSpPr>
        <p:spPr>
          <a:xfrm>
            <a:off x="822960" y="2834640"/>
            <a:ext cx="1463040" cy="38100"/>
          </a:xfrm>
          <a:prstGeom prst="rect">
            <a:avLst/>
          </a:prstGeom>
          <a:solidFill>
            <a:srgbClr val="742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54680"/>
            <a:ext cx="10515600" cy="2926080"/>
          </a:xfrm>
          <a:prstGeom prst="rect">
            <a:avLst/>
          </a:prstGeom>
          <a:noFill/>
        </p:spPr>
        <p:txBody>
          <a:bodyPr wrap="square">
            <a:spAutoFit/>
          </a:bodyPr>
          <a:lstStyle/>
          <a:p>
            <a:pPr>
              <a:spcAft>
                <a:spcPts val="1200"/>
              </a:spcAft>
            </a:pPr>
            <a:r>
              <a:rPr sz="2700" i="0">
                <a:solidFill>
                  <a:srgbClr val="1D283C"/>
                </a:solidFill>
                <a:latin typeface="Lora"/>
              </a:rPr>
              <a:t>You don't feel all of it at once. It rises, it crests, it passes, for now. Then it comes again. That's grief, not you failing.</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74234F"/>
                </a:solidFill>
                <a:latin typeface="Lora"/>
              </a:rPr>
              <a:t>SEXUALEMPOWERMENTFORWOMEN.COM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4BBC2"/>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4000">
                <a:solidFill>
                  <a:srgbClr val="1D283C"/>
                </a:solidFill>
                <a:latin typeface="Marcellus"/>
              </a:rPr>
              <a:t>Feel a little, then come back</a:t>
            </a:r>
          </a:p>
        </p:txBody>
      </p:sp>
      <p:sp>
        <p:nvSpPr>
          <p:cNvPr id="3" name="Rectangle 2"/>
          <p:cNvSpPr/>
          <p:nvPr/>
        </p:nvSpPr>
        <p:spPr>
          <a:xfrm>
            <a:off x="822960" y="2834640"/>
            <a:ext cx="1463040" cy="38100"/>
          </a:xfrm>
          <a:prstGeom prst="rect">
            <a:avLst/>
          </a:prstGeom>
          <a:solidFill>
            <a:srgbClr val="742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54680"/>
            <a:ext cx="10515600" cy="2926080"/>
          </a:xfrm>
          <a:prstGeom prst="rect">
            <a:avLst/>
          </a:prstGeom>
          <a:noFill/>
        </p:spPr>
        <p:txBody>
          <a:bodyPr wrap="square">
            <a:spAutoFit/>
          </a:bodyPr>
          <a:lstStyle/>
          <a:p>
            <a:pPr>
              <a:spcAft>
                <a:spcPts val="1200"/>
              </a:spcAft>
            </a:pPr>
            <a:r>
              <a:rPr sz="2300" i="0">
                <a:solidFill>
                  <a:srgbClr val="1D283C"/>
                </a:solidFill>
                <a:latin typeface="Lora"/>
              </a:rPr>
              <a:t>•  Go into the feeling for a breath.</a:t>
            </a:r>
          </a:p>
          <a:p>
            <a:pPr>
              <a:spcAft>
                <a:spcPts val="1200"/>
              </a:spcAft>
            </a:pPr>
            <a:r>
              <a:rPr sz="2300" i="0">
                <a:solidFill>
                  <a:srgbClr val="1D283C"/>
                </a:solidFill>
                <a:latin typeface="Lora"/>
              </a:rPr>
              <a:t>•  Come back to safety: feet, breath, hand on heart.</a:t>
            </a:r>
          </a:p>
          <a:p>
            <a:pPr>
              <a:spcAft>
                <a:spcPts val="1200"/>
              </a:spcAft>
            </a:pPr>
            <a:r>
              <a:rPr sz="2300" i="0">
                <a:solidFill>
                  <a:srgbClr val="1D283C"/>
                </a:solidFill>
                <a:latin typeface="Lora"/>
              </a:rPr>
              <a:t>•  A little in, a little out.</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74234F"/>
                </a:solidFill>
                <a:latin typeface="Lora"/>
              </a:rPr>
              <a:t>SEXUALEMPOWERMENTFORWOMEN.COM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7CA1A5"/>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4000">
                <a:solidFill>
                  <a:srgbClr val="1D283C"/>
                </a:solidFill>
                <a:latin typeface="Marcellus"/>
              </a:rPr>
              <a:t>Keep one foot in the present</a:t>
            </a:r>
          </a:p>
        </p:txBody>
      </p:sp>
      <p:sp>
        <p:nvSpPr>
          <p:cNvPr id="3" name="Rectangle 2"/>
          <p:cNvSpPr/>
          <p:nvPr/>
        </p:nvSpPr>
        <p:spPr>
          <a:xfrm>
            <a:off x="822960" y="2834640"/>
            <a:ext cx="1463040" cy="38100"/>
          </a:xfrm>
          <a:prstGeom prst="rect">
            <a:avLst/>
          </a:prstGeom>
          <a:solidFill>
            <a:srgbClr val="742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54680"/>
            <a:ext cx="10515600" cy="2926080"/>
          </a:xfrm>
          <a:prstGeom prst="rect">
            <a:avLst/>
          </a:prstGeom>
          <a:noFill/>
        </p:spPr>
        <p:txBody>
          <a:bodyPr wrap="square">
            <a:spAutoFit/>
          </a:bodyPr>
          <a:lstStyle/>
          <a:p>
            <a:pPr>
              <a:spcAft>
                <a:spcPts val="1200"/>
              </a:spcAft>
            </a:pPr>
            <a:r>
              <a:rPr sz="2700" i="0">
                <a:solidFill>
                  <a:srgbClr val="1D283C"/>
                </a:solidFill>
                <a:latin typeface="Lora"/>
              </a:rPr>
              <a:t>Name five things you see. Right now, I am here, and I am safe. That's how you feel it without disappearing into it.</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74234F"/>
                </a:solidFill>
                <a:latin typeface="Lora"/>
              </a:rPr>
              <a:t>SEXUALEMPOWERMENTFORWOMEN.COM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24652"/>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none">
            <a:spAutoFit/>
          </a:bodyPr>
          <a:lstStyle/>
          <a:p>
            <a:r>
              <a:rPr sz="1500" b="1">
                <a:solidFill>
                  <a:srgbClr val="C9A86D"/>
                </a:solidFill>
                <a:latin typeface="Lora"/>
              </a:rPr>
              <a:t>IN PAIRS · PICK A 3 OR 4, NOT A 9</a:t>
            </a:r>
          </a:p>
        </p:txBody>
      </p:sp>
      <p:sp>
        <p:nvSpPr>
          <p:cNvPr id="3" name="TextBox 2"/>
          <p:cNvSpPr txBox="1"/>
          <p:nvPr/>
        </p:nvSpPr>
        <p:spPr>
          <a:xfrm>
            <a:off x="822960" y="1005840"/>
            <a:ext cx="10515600" cy="2926080"/>
          </a:xfrm>
          <a:prstGeom prst="rect">
            <a:avLst/>
          </a:prstGeom>
          <a:noFill/>
        </p:spPr>
        <p:txBody>
          <a:bodyPr wrap="square" anchor="t">
            <a:spAutoFit/>
          </a:bodyPr>
          <a:lstStyle/>
          <a:p>
            <a:r>
              <a:rPr sz="4000">
                <a:solidFill>
                  <a:srgbClr val="FCE8EA"/>
                </a:solidFill>
                <a:latin typeface="Marcellus"/>
              </a:rPr>
              <a:t>Breakout · Feel a little, come back</a:t>
            </a:r>
          </a:p>
        </p:txBody>
      </p:sp>
      <p:sp>
        <p:nvSpPr>
          <p:cNvPr id="4" name="Rectangle 3"/>
          <p:cNvSpPr/>
          <p:nvPr/>
        </p:nvSpPr>
        <p:spPr>
          <a:xfrm>
            <a:off x="822960" y="2834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154680"/>
            <a:ext cx="10515600" cy="2926080"/>
          </a:xfrm>
          <a:prstGeom prst="rect">
            <a:avLst/>
          </a:prstGeom>
          <a:noFill/>
        </p:spPr>
        <p:txBody>
          <a:bodyPr wrap="square">
            <a:spAutoFit/>
          </a:bodyPr>
          <a:lstStyle/>
          <a:p>
            <a:pPr>
              <a:spcAft>
                <a:spcPts val="1200"/>
              </a:spcAft>
            </a:pPr>
            <a:r>
              <a:rPr sz="2300" i="0">
                <a:solidFill>
                  <a:srgbClr val="FCE8EA"/>
                </a:solidFill>
                <a:latin typeface="Lora"/>
              </a:rPr>
              <a:t>•  A feels it for a breath, names where it is.</a:t>
            </a:r>
          </a:p>
          <a:p>
            <a:pPr>
              <a:spcAft>
                <a:spcPts val="1200"/>
              </a:spcAft>
            </a:pPr>
            <a:r>
              <a:rPr sz="2300" i="0">
                <a:solidFill>
                  <a:srgbClr val="FCE8EA"/>
                </a:solidFill>
                <a:latin typeface="Lora"/>
              </a:rPr>
              <a:t>•  B guides A back to safety.</a:t>
            </a:r>
          </a:p>
          <a:p>
            <a:pPr>
              <a:spcAft>
                <a:spcPts val="1200"/>
              </a:spcAft>
            </a:pPr>
            <a:r>
              <a:rPr sz="2300" i="0">
                <a:solidFill>
                  <a:srgbClr val="FCE8EA"/>
                </a:solidFill>
                <a:latin typeface="Lora"/>
              </a:rPr>
              <a:t>•  A little in, a little out, three times. Swap.</a:t>
            </a:r>
          </a:p>
        </p:txBody>
      </p:sp>
      <p:sp>
        <p:nvSpPr>
          <p:cNvPr id="6" name="TextBox 5"/>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74234F"/>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4000">
                <a:solidFill>
                  <a:srgbClr val="FCE8EA"/>
                </a:solidFill>
                <a:latin typeface="Marcellus"/>
              </a:rPr>
              <a:t>The body still braces</a:t>
            </a:r>
          </a:p>
        </p:txBody>
      </p:sp>
      <p:sp>
        <p:nvSpPr>
          <p:cNvPr id="3" name="Rectangle 2"/>
          <p:cNvSpPr/>
          <p:nvPr/>
        </p:nvSpPr>
        <p:spPr>
          <a:xfrm>
            <a:off x="822960" y="2834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54680"/>
            <a:ext cx="10515600" cy="2926080"/>
          </a:xfrm>
          <a:prstGeom prst="rect">
            <a:avLst/>
          </a:prstGeom>
          <a:noFill/>
        </p:spPr>
        <p:txBody>
          <a:bodyPr wrap="square">
            <a:spAutoFit/>
          </a:bodyPr>
          <a:lstStyle/>
          <a:p>
            <a:pPr>
              <a:spcAft>
                <a:spcPts val="1200"/>
              </a:spcAft>
            </a:pPr>
            <a:r>
              <a:rPr sz="2700" i="0">
                <a:solidFill>
                  <a:srgbClr val="FCE8EA"/>
                </a:solidFill>
                <a:latin typeface="Lora"/>
              </a:rPr>
              <a:t>You can make peace in your head, and your body can still be holding it. It lets go through breath, tears, moving, being held.</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D283C"/>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4000">
                <a:solidFill>
                  <a:srgbClr val="FCE8EA"/>
                </a:solidFill>
                <a:latin typeface="Marcellus"/>
              </a:rPr>
              <a:t>EFT · tapping</a:t>
            </a:r>
          </a:p>
        </p:txBody>
      </p:sp>
      <p:sp>
        <p:nvSpPr>
          <p:cNvPr id="3" name="Rectangle 2"/>
          <p:cNvSpPr/>
          <p:nvPr/>
        </p:nvSpPr>
        <p:spPr>
          <a:xfrm>
            <a:off x="822960" y="2834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54680"/>
            <a:ext cx="10515600" cy="2926080"/>
          </a:xfrm>
          <a:prstGeom prst="rect">
            <a:avLst/>
          </a:prstGeom>
          <a:noFill/>
        </p:spPr>
        <p:txBody>
          <a:bodyPr wrap="square">
            <a:spAutoFit/>
          </a:bodyPr>
          <a:lstStyle/>
          <a:p>
            <a:pPr>
              <a:spcAft>
                <a:spcPts val="1200"/>
              </a:spcAft>
            </a:pPr>
            <a:r>
              <a:rPr sz="2700" i="0">
                <a:solidFill>
                  <a:srgbClr val="FCE8EA"/>
                </a:solidFill>
                <a:latin typeface="Lora"/>
              </a:rPr>
              <a:t>An easy, direct way to settle a big feeling and come back to safety in your body.</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C9A86D"/>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4000">
                <a:solidFill>
                  <a:srgbClr val="1D283C"/>
                </a:solidFill>
                <a:latin typeface="Marcellus"/>
              </a:rPr>
              <a:t>Why it works</a:t>
            </a:r>
          </a:p>
        </p:txBody>
      </p:sp>
      <p:sp>
        <p:nvSpPr>
          <p:cNvPr id="3" name="Rectangle 2"/>
          <p:cNvSpPr/>
          <p:nvPr/>
        </p:nvSpPr>
        <p:spPr>
          <a:xfrm>
            <a:off x="822960" y="2834640"/>
            <a:ext cx="1463040" cy="38100"/>
          </a:xfrm>
          <a:prstGeom prst="rect">
            <a:avLst/>
          </a:prstGeom>
          <a:solidFill>
            <a:srgbClr val="742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54680"/>
            <a:ext cx="10515600" cy="2926080"/>
          </a:xfrm>
          <a:prstGeom prst="rect">
            <a:avLst/>
          </a:prstGeom>
          <a:noFill/>
        </p:spPr>
        <p:txBody>
          <a:bodyPr wrap="square">
            <a:spAutoFit/>
          </a:bodyPr>
          <a:lstStyle/>
          <a:p>
            <a:pPr>
              <a:spcAft>
                <a:spcPts val="1200"/>
              </a:spcAft>
            </a:pPr>
            <a:r>
              <a:rPr sz="2700" i="0">
                <a:solidFill>
                  <a:srgbClr val="1D283C"/>
                </a:solidFill>
                <a:latin typeface="Lora"/>
              </a:rPr>
              <a:t>Tapping calms the amygdala's alarm, so you shift into your logical brain and choose your response.</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74234F"/>
                </a:solidFill>
                <a:latin typeface="Lora"/>
              </a:rPr>
              <a:t>SEXUALEMPOWERMENTFORWOMEN.COM</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CE8EA"/>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4000">
                <a:solidFill>
                  <a:srgbClr val="1D283C"/>
                </a:solidFill>
                <a:latin typeface="Marcellus"/>
              </a:rPr>
              <a:t>Wash the laundry</a:t>
            </a:r>
          </a:p>
        </p:txBody>
      </p:sp>
      <p:sp>
        <p:nvSpPr>
          <p:cNvPr id="3" name="Rectangle 2"/>
          <p:cNvSpPr/>
          <p:nvPr/>
        </p:nvSpPr>
        <p:spPr>
          <a:xfrm>
            <a:off x="822960" y="2834640"/>
            <a:ext cx="1463040" cy="38100"/>
          </a:xfrm>
          <a:prstGeom prst="rect">
            <a:avLst/>
          </a:prstGeom>
          <a:solidFill>
            <a:srgbClr val="742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54680"/>
            <a:ext cx="10515600" cy="2926080"/>
          </a:xfrm>
          <a:prstGeom prst="rect">
            <a:avLst/>
          </a:prstGeom>
          <a:noFill/>
        </p:spPr>
        <p:txBody>
          <a:bodyPr wrap="square">
            <a:spAutoFit/>
          </a:bodyPr>
          <a:lstStyle/>
          <a:p>
            <a:pPr>
              <a:spcAft>
                <a:spcPts val="1200"/>
              </a:spcAft>
            </a:pPr>
            <a:r>
              <a:rPr sz="2700" i="0">
                <a:solidFill>
                  <a:srgbClr val="1D283C"/>
                </a:solidFill>
                <a:latin typeface="Lora"/>
              </a:rPr>
              <a:t>We don't hide the feeling in the wardrobe. We take it out, wash it, and clear it. Then reframes come naturally.</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74234F"/>
                </a:solidFill>
                <a:latin typeface="Lora"/>
              </a:rPr>
              <a:t>SEXUALEMPOWERMENTFORWOMEN.COM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D283C"/>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4000">
                <a:solidFill>
                  <a:srgbClr val="FCE8EA"/>
                </a:solidFill>
                <a:latin typeface="Marcellus"/>
              </a:rPr>
              <a:t>How to tap</a:t>
            </a:r>
          </a:p>
        </p:txBody>
      </p:sp>
      <p:sp>
        <p:nvSpPr>
          <p:cNvPr id="3" name="Rectangle 2"/>
          <p:cNvSpPr/>
          <p:nvPr/>
        </p:nvSpPr>
        <p:spPr>
          <a:xfrm>
            <a:off x="822960" y="2834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54680"/>
            <a:ext cx="10515600" cy="2926080"/>
          </a:xfrm>
          <a:prstGeom prst="rect">
            <a:avLst/>
          </a:prstGeom>
          <a:noFill/>
        </p:spPr>
        <p:txBody>
          <a:bodyPr wrap="square">
            <a:spAutoFit/>
          </a:bodyPr>
          <a:lstStyle/>
          <a:p>
            <a:pPr>
              <a:spcAft>
                <a:spcPts val="1200"/>
              </a:spcAft>
            </a:pPr>
            <a:r>
              <a:rPr sz="2300" i="0">
                <a:solidFill>
                  <a:srgbClr val="FCE8EA"/>
                </a:solidFill>
                <a:latin typeface="Lora"/>
              </a:rPr>
              <a:t>•  Name it, be specific. Rate it 1 to 10.</a:t>
            </a:r>
          </a:p>
          <a:p>
            <a:pPr>
              <a:spcAft>
                <a:spcPts val="1200"/>
              </a:spcAft>
            </a:pPr>
            <a:r>
              <a:rPr sz="2300" i="0">
                <a:solidFill>
                  <a:srgbClr val="FCE8EA"/>
                </a:solidFill>
                <a:latin typeface="Lora"/>
              </a:rPr>
              <a:t>•  Setup: even though I feel this, I love and accept myself.</a:t>
            </a:r>
          </a:p>
          <a:p>
            <a:pPr>
              <a:spcAft>
                <a:spcPts val="1200"/>
              </a:spcAft>
            </a:pPr>
            <a:r>
              <a:rPr sz="2300" i="0">
                <a:solidFill>
                  <a:srgbClr val="FCE8EA"/>
                </a:solidFill>
                <a:latin typeface="Lora"/>
              </a:rPr>
              <a:t>•  Tap the points, say it out loud.</a:t>
            </a:r>
          </a:p>
          <a:p>
            <a:pPr>
              <a:spcAft>
                <a:spcPts val="1200"/>
              </a:spcAft>
            </a:pPr>
            <a:r>
              <a:rPr sz="2300" i="0">
                <a:solidFill>
                  <a:srgbClr val="FCE8EA"/>
                </a:solidFill>
                <a:latin typeface="Lora"/>
              </a:rPr>
              <a:t>•  Breathe, re-rate, repeat until it drops.</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7CA1A5"/>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4000">
                <a:solidFill>
                  <a:srgbClr val="1D283C"/>
                </a:solidFill>
                <a:latin typeface="Marcellus"/>
              </a:rPr>
              <a:t>The points</a:t>
            </a:r>
          </a:p>
        </p:txBody>
      </p:sp>
      <p:sp>
        <p:nvSpPr>
          <p:cNvPr id="3" name="Rectangle 2"/>
          <p:cNvSpPr/>
          <p:nvPr/>
        </p:nvSpPr>
        <p:spPr>
          <a:xfrm>
            <a:off x="822960" y="2834640"/>
            <a:ext cx="1463040" cy="38100"/>
          </a:xfrm>
          <a:prstGeom prst="rect">
            <a:avLst/>
          </a:prstGeom>
          <a:solidFill>
            <a:srgbClr val="742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54680"/>
            <a:ext cx="10515600" cy="2926080"/>
          </a:xfrm>
          <a:prstGeom prst="rect">
            <a:avLst/>
          </a:prstGeom>
          <a:noFill/>
        </p:spPr>
        <p:txBody>
          <a:bodyPr wrap="square">
            <a:spAutoFit/>
          </a:bodyPr>
          <a:lstStyle/>
          <a:p>
            <a:pPr>
              <a:spcAft>
                <a:spcPts val="1200"/>
              </a:spcAft>
            </a:pPr>
            <a:r>
              <a:rPr sz="2300" i="0">
                <a:solidFill>
                  <a:srgbClr val="1D283C"/>
                </a:solidFill>
                <a:latin typeface="Lora"/>
              </a:rPr>
              <a:t>•  Top of head · eyebrow · side of eye · under eye</a:t>
            </a:r>
          </a:p>
          <a:p>
            <a:pPr>
              <a:spcAft>
                <a:spcPts val="1200"/>
              </a:spcAft>
            </a:pPr>
            <a:r>
              <a:rPr sz="2300" i="0">
                <a:solidFill>
                  <a:srgbClr val="1D283C"/>
                </a:solidFill>
                <a:latin typeface="Lora"/>
              </a:rPr>
              <a:t>•  Under nose · chin · collarbone</a:t>
            </a:r>
          </a:p>
          <a:p>
            <a:pPr>
              <a:spcAft>
                <a:spcPts val="1200"/>
              </a:spcAft>
            </a:pPr>
            <a:r>
              <a:rPr sz="2300" i="0">
                <a:solidFill>
                  <a:srgbClr val="1D283C"/>
                </a:solidFill>
                <a:latin typeface="Lora"/>
              </a:rPr>
              <a:t>•  Under arm · wrist</a:t>
            </a:r>
          </a:p>
          <a:p>
            <a:pPr>
              <a:spcAft>
                <a:spcPts val="1200"/>
              </a:spcAft>
            </a:pPr>
            <a:r>
              <a:rPr sz="2300" i="0">
                <a:solidFill>
                  <a:srgbClr val="1D283C"/>
                </a:solidFill>
                <a:latin typeface="Lora"/>
              </a:rPr>
              <a:t>•  Sip water as you go.</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74234F"/>
                </a:solidFill>
                <a:latin typeface="Lora"/>
              </a:rPr>
              <a:t>SEXUALEMPOWERMENTFORWOMEN.COM</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24652"/>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none">
            <a:spAutoFit/>
          </a:bodyPr>
          <a:lstStyle/>
          <a:p>
            <a:r>
              <a:rPr sz="1500" b="1">
                <a:solidFill>
                  <a:srgbClr val="C9A86D"/>
                </a:solidFill>
                <a:latin typeface="Lora"/>
              </a:rPr>
              <a:t>IN PAIRS</a:t>
            </a:r>
          </a:p>
        </p:txBody>
      </p:sp>
      <p:sp>
        <p:nvSpPr>
          <p:cNvPr id="3" name="TextBox 2"/>
          <p:cNvSpPr txBox="1"/>
          <p:nvPr/>
        </p:nvSpPr>
        <p:spPr>
          <a:xfrm>
            <a:off x="822960" y="1005840"/>
            <a:ext cx="10515600" cy="2926080"/>
          </a:xfrm>
          <a:prstGeom prst="rect">
            <a:avLst/>
          </a:prstGeom>
          <a:noFill/>
        </p:spPr>
        <p:txBody>
          <a:bodyPr wrap="square" anchor="t">
            <a:spAutoFit/>
          </a:bodyPr>
          <a:lstStyle/>
          <a:p>
            <a:r>
              <a:rPr sz="4000">
                <a:solidFill>
                  <a:srgbClr val="FCE8EA"/>
                </a:solidFill>
                <a:latin typeface="Marcellus"/>
              </a:rPr>
              <a:t>Breakout · Tap together</a:t>
            </a:r>
          </a:p>
        </p:txBody>
      </p:sp>
      <p:sp>
        <p:nvSpPr>
          <p:cNvPr id="4" name="Rectangle 3"/>
          <p:cNvSpPr/>
          <p:nvPr/>
        </p:nvSpPr>
        <p:spPr>
          <a:xfrm>
            <a:off x="822960" y="2834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154680"/>
            <a:ext cx="10515600" cy="2926080"/>
          </a:xfrm>
          <a:prstGeom prst="rect">
            <a:avLst/>
          </a:prstGeom>
          <a:noFill/>
        </p:spPr>
        <p:txBody>
          <a:bodyPr wrap="square">
            <a:spAutoFit/>
          </a:bodyPr>
          <a:lstStyle/>
          <a:p>
            <a:pPr>
              <a:spcAft>
                <a:spcPts val="1200"/>
              </a:spcAft>
            </a:pPr>
            <a:r>
              <a:rPr sz="2300" i="0">
                <a:solidFill>
                  <a:srgbClr val="FCE8EA"/>
                </a:solidFill>
                <a:latin typeface="Lora"/>
              </a:rPr>
              <a:t>•  Each pick an issue, rate it 1 to 10.</a:t>
            </a:r>
          </a:p>
          <a:p>
            <a:pPr>
              <a:spcAft>
                <a:spcPts val="1200"/>
              </a:spcAft>
            </a:pPr>
            <a:r>
              <a:rPr sz="2300" i="0">
                <a:solidFill>
                  <a:srgbClr val="FCE8EA"/>
                </a:solidFill>
                <a:latin typeface="Lora"/>
              </a:rPr>
              <a:t>•  Tap through the points, say your phrase out loud.</a:t>
            </a:r>
          </a:p>
          <a:p>
            <a:pPr>
              <a:spcAft>
                <a:spcPts val="1200"/>
              </a:spcAft>
            </a:pPr>
            <a:r>
              <a:rPr sz="2300" i="0">
                <a:solidFill>
                  <a:srgbClr val="FCE8EA"/>
                </a:solidFill>
                <a:latin typeface="Lora"/>
              </a:rPr>
              <a:t>•  Breathe, re-rate. Swap who leads.</a:t>
            </a:r>
          </a:p>
        </p:txBody>
      </p:sp>
      <p:sp>
        <p:nvSpPr>
          <p:cNvPr id="6" name="TextBox 5"/>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74234F"/>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none">
            <a:spAutoFit/>
          </a:bodyPr>
          <a:lstStyle/>
          <a:p>
            <a:r>
              <a:rPr sz="1500" b="1">
                <a:solidFill>
                  <a:srgbClr val="C9A86D"/>
                </a:solidFill>
                <a:latin typeface="Lora"/>
              </a:rPr>
              <a:t>TAKE HOME</a:t>
            </a:r>
          </a:p>
        </p:txBody>
      </p:sp>
      <p:sp>
        <p:nvSpPr>
          <p:cNvPr id="3" name="TextBox 2"/>
          <p:cNvSpPr txBox="1"/>
          <p:nvPr/>
        </p:nvSpPr>
        <p:spPr>
          <a:xfrm>
            <a:off x="822960" y="1005840"/>
            <a:ext cx="10515600" cy="2926080"/>
          </a:xfrm>
          <a:prstGeom prst="rect">
            <a:avLst/>
          </a:prstGeom>
          <a:noFill/>
        </p:spPr>
        <p:txBody>
          <a:bodyPr wrap="square" anchor="t">
            <a:spAutoFit/>
          </a:bodyPr>
          <a:lstStyle/>
          <a:p>
            <a:r>
              <a:rPr sz="4000">
                <a:solidFill>
                  <a:srgbClr val="FCE8EA"/>
                </a:solidFill>
                <a:latin typeface="Marcellus"/>
              </a:rPr>
              <a:t>This week</a:t>
            </a:r>
          </a:p>
        </p:txBody>
      </p:sp>
      <p:sp>
        <p:nvSpPr>
          <p:cNvPr id="4" name="Rectangle 3"/>
          <p:cNvSpPr/>
          <p:nvPr/>
        </p:nvSpPr>
        <p:spPr>
          <a:xfrm>
            <a:off x="822960" y="2834640"/>
            <a:ext cx="1463040" cy="38100"/>
          </a:xfrm>
          <a:prstGeom prst="rect">
            <a:avLst/>
          </a:prstGeom>
          <a:solidFill>
            <a:srgbClr val="C9A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154680"/>
            <a:ext cx="10515600" cy="2926080"/>
          </a:xfrm>
          <a:prstGeom prst="rect">
            <a:avLst/>
          </a:prstGeom>
          <a:noFill/>
        </p:spPr>
        <p:txBody>
          <a:bodyPr wrap="square">
            <a:spAutoFit/>
          </a:bodyPr>
          <a:lstStyle/>
          <a:p>
            <a:pPr>
              <a:spcAft>
                <a:spcPts val="1200"/>
              </a:spcAft>
            </a:pPr>
            <a:r>
              <a:rPr sz="2300" i="0">
                <a:solidFill>
                  <a:srgbClr val="FCE8EA"/>
                </a:solidFill>
                <a:latin typeface="Lora"/>
              </a:rPr>
              <a:t>•  Safety first: am I connected to myself?</a:t>
            </a:r>
          </a:p>
          <a:p>
            <a:pPr>
              <a:spcAft>
                <a:spcPts val="1200"/>
              </a:spcAft>
            </a:pPr>
            <a:r>
              <a:rPr sz="2300" i="0">
                <a:solidFill>
                  <a:srgbClr val="FCE8EA"/>
                </a:solidFill>
                <a:latin typeface="Lora"/>
              </a:rPr>
              <a:t>•  Hands on heart: how do you feel?</a:t>
            </a:r>
          </a:p>
          <a:p>
            <a:pPr>
              <a:spcAft>
                <a:spcPts val="1200"/>
              </a:spcAft>
            </a:pPr>
            <a:r>
              <a:rPr sz="2300" i="0">
                <a:solidFill>
                  <a:srgbClr val="FCE8EA"/>
                </a:solidFill>
                <a:latin typeface="Lora"/>
              </a:rPr>
              <a:t>•  Tap when it's big. Feel a little, come back.</a:t>
            </a:r>
          </a:p>
        </p:txBody>
      </p:sp>
      <p:sp>
        <p:nvSpPr>
          <p:cNvPr id="6" name="TextBox 5"/>
          <p:cNvSpPr txBox="1"/>
          <p:nvPr/>
        </p:nvSpPr>
        <p:spPr>
          <a:xfrm>
            <a:off x="822960" y="6263640"/>
            <a:ext cx="10515600" cy="365760"/>
          </a:xfrm>
          <a:prstGeom prst="rect">
            <a:avLst/>
          </a:prstGeom>
          <a:noFill/>
        </p:spPr>
        <p:txBody>
          <a:bodyPr wrap="none">
            <a:spAutoFit/>
          </a:bodyPr>
          <a:lstStyle/>
          <a:p>
            <a:r>
              <a:rPr sz="1100">
                <a:solidFill>
                  <a:srgbClr val="C9A86D"/>
                </a:solidFill>
                <a:latin typeface="Lora"/>
              </a:rPr>
              <a:t>SEXUALEMPOWERMENTFORWOMEN.COM</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C9A86D"/>
        </a:solidFill>
        <a:effectLst/>
      </p:bgPr>
    </p:bg>
    <p:spTree>
      <p:nvGrpSpPr>
        <p:cNvPr id="1" name=""/>
        <p:cNvGrpSpPr/>
        <p:nvPr/>
      </p:nvGrpSpPr>
      <p:grpSpPr/>
      <p:sp>
        <p:nvSpPr>
          <p:cNvPr id="2" name="TextBox 1"/>
          <p:cNvSpPr txBox="1"/>
          <p:nvPr/>
        </p:nvSpPr>
        <p:spPr>
          <a:xfrm>
            <a:off x="822960" y="1005840"/>
            <a:ext cx="10515600" cy="2926080"/>
          </a:xfrm>
          <a:prstGeom prst="rect">
            <a:avLst/>
          </a:prstGeom>
          <a:noFill/>
        </p:spPr>
        <p:txBody>
          <a:bodyPr wrap="square" anchor="t">
            <a:spAutoFit/>
          </a:bodyPr>
          <a:lstStyle/>
          <a:p>
            <a:r>
              <a:rPr sz="5400">
                <a:solidFill>
                  <a:srgbClr val="1D283C"/>
                </a:solidFill>
                <a:latin typeface="Marcellus"/>
              </a:rPr>
              <a:t>You don't control your emotions.</a:t>
            </a:r>
          </a:p>
        </p:txBody>
      </p:sp>
      <p:sp>
        <p:nvSpPr>
          <p:cNvPr id="3" name="Rectangle 2"/>
          <p:cNvSpPr/>
          <p:nvPr/>
        </p:nvSpPr>
        <p:spPr>
          <a:xfrm>
            <a:off x="822960" y="3977640"/>
            <a:ext cx="1463040" cy="38100"/>
          </a:xfrm>
          <a:prstGeom prst="rect">
            <a:avLst/>
          </a:prstGeom>
          <a:solidFill>
            <a:srgbClr val="742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297680"/>
            <a:ext cx="10515600" cy="2926080"/>
          </a:xfrm>
          <a:prstGeom prst="rect">
            <a:avLst/>
          </a:prstGeom>
          <a:noFill/>
        </p:spPr>
        <p:txBody>
          <a:bodyPr wrap="square">
            <a:spAutoFit/>
          </a:bodyPr>
          <a:lstStyle/>
          <a:p>
            <a:pPr>
              <a:spcAft>
                <a:spcPts val="1200"/>
              </a:spcAft>
            </a:pPr>
            <a:r>
              <a:rPr sz="2700" i="0">
                <a:solidFill>
                  <a:srgbClr val="1D283C"/>
                </a:solidFill>
                <a:latin typeface="Lora"/>
              </a:rPr>
              <a:t>You master them by feeling safe enough to finally listen.</a:t>
            </a:r>
          </a:p>
        </p:txBody>
      </p:sp>
      <p:sp>
        <p:nvSpPr>
          <p:cNvPr id="5" name="TextBox 4"/>
          <p:cNvSpPr txBox="1"/>
          <p:nvPr/>
        </p:nvSpPr>
        <p:spPr>
          <a:xfrm>
            <a:off x="822960" y="6263640"/>
            <a:ext cx="10515600" cy="365760"/>
          </a:xfrm>
          <a:prstGeom prst="rect">
            <a:avLst/>
          </a:prstGeom>
          <a:noFill/>
        </p:spPr>
        <p:txBody>
          <a:bodyPr wrap="none">
            <a:spAutoFit/>
          </a:bodyPr>
          <a:lstStyle/>
          <a:p>
            <a:r>
              <a:rPr sz="1100">
                <a:solidFill>
                  <a:srgbClr val="74234F"/>
                </a:solidFill>
                <a:latin typeface="Lora"/>
              </a:rPr>
              <a:t>SEXUALEMPOWERMENTFORWOMEN.COM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