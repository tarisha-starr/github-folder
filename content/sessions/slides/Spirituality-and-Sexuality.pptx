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8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9A86D"/>
                </a:solidFill>
                <a:latin typeface="Lora"/>
              </a:rPr>
              <a:t>RADIANT WOMEN'S CIRCLE  ·  SESSION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5400">
                <a:solidFill>
                  <a:srgbClr val="FCE8EA"/>
                </a:solidFill>
                <a:latin typeface="Belleza"/>
              </a:rPr>
              <a:t>Spirituality &amp; Sexuality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977640"/>
            <a:ext cx="1463040" cy="38100"/>
          </a:xfrm>
          <a:prstGeom prst="rect">
            <a:avLst/>
          </a:prstGeom>
          <a:solidFill>
            <a:srgbClr val="C9A8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297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FCE8EA"/>
                </a:solidFill>
                <a:latin typeface="Lora"/>
              </a:rPr>
              <a:t>The Sacred Woman: coming home to your body and desire.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9A8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E8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1D283C"/>
                </a:solidFill>
                <a:latin typeface="Belleza"/>
              </a:rPr>
              <a:t>We begin with self-compassion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74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1D283C"/>
                </a:solidFill>
                <a:latin typeface="Lora"/>
              </a:rPr>
              <a:t>You can't open to anything bigger while you're at war with yourself.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74234F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4BBC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74234F"/>
                </a:solidFill>
                <a:latin typeface="Lora"/>
              </a:rPr>
              <a:t>HANDS ON HEART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1D283C"/>
                </a:solidFill>
                <a:latin typeface="Belleza"/>
              </a:rPr>
              <a:t>Self-compassion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74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300" i="0">
                <a:solidFill>
                  <a:srgbClr val="1D283C"/>
                </a:solidFill>
                <a:latin typeface="Lora"/>
              </a:rPr>
              <a:t>•  How are you, really? What's going on for you?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1D283C"/>
                </a:solidFill>
                <a:latin typeface="Lora"/>
              </a:rPr>
              <a:t>•  I hear you. I'm here.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1D283C"/>
                </a:solidFill>
                <a:latin typeface="Lora"/>
              </a:rPr>
              <a:t>•  Nothing to fix. Nothing to perform.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74234F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8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CE8EA"/>
                </a:solidFill>
                <a:latin typeface="Belleza"/>
              </a:rPr>
              <a:t>Two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9A8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300" i="0">
                <a:solidFill>
                  <a:srgbClr val="FCE8EA"/>
                </a:solidFill>
                <a:latin typeface="Lora"/>
              </a:rPr>
              <a:t>•  Step 1: Awareness. Notice the closing, the contraction.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CE8EA"/>
                </a:solidFill>
                <a:latin typeface="Lora"/>
              </a:rPr>
              <a:t>•  Step 2: Self-love. Meet it with kindness.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CE8EA"/>
                </a:solidFill>
                <a:latin typeface="Lora"/>
              </a:rPr>
              <a:t>•  And you don't need to fix yourself.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9A8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423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5400">
                <a:solidFill>
                  <a:srgbClr val="FCE8EA"/>
                </a:solidFill>
                <a:latin typeface="Belleza"/>
              </a:rPr>
              <a:t>You are not a problem to solve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3977640"/>
            <a:ext cx="1463040" cy="38100"/>
          </a:xfrm>
          <a:prstGeom prst="rect">
            <a:avLst/>
          </a:prstGeom>
          <a:solidFill>
            <a:srgbClr val="C9A8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297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FCE8EA"/>
                </a:solidFill>
                <a:latin typeface="Lora"/>
              </a:rPr>
              <a:t>You can feel yourself contract, close, brace, and you don't have to make it go away.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9A8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86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1D283C"/>
                </a:solidFill>
                <a:latin typeface="Belleza"/>
              </a:rPr>
              <a:t>The practice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74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1D283C"/>
                </a:solidFill>
                <a:latin typeface="Lora"/>
              </a:rPr>
              <a:t>Not getting rid of the contraction. Opening to something bigger, irrespective of the contraction. You feel yourself close, and you open anyway.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74234F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8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CE8EA"/>
                </a:solidFill>
                <a:latin typeface="Belleza"/>
              </a:rPr>
              <a:t>Not bypassing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9A8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FCE8EA"/>
                </a:solidFill>
                <a:latin typeface="Lora"/>
              </a:rPr>
              <a:t>We don't rise above our humanness. We let the scared, contracted parts stay, and open to something bigger while holding them with love.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9A8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46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9A86D"/>
                </a:solidFill>
                <a:latin typeface="Lora"/>
              </a:rPr>
              <a:t>YOUR INNER GUIDANCE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CE8EA"/>
                </a:solidFill>
                <a:latin typeface="Belleza"/>
              </a:rPr>
              <a:t>Your body is your Blueprint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9A8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300" i="0">
                <a:solidFill>
                  <a:srgbClr val="FCE8EA"/>
                </a:solidFill>
                <a:latin typeface="Lora"/>
              </a:rPr>
              <a:t>•  Your body is always guiding you: contraction and opening, yes and no.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CE8EA"/>
                </a:solidFill>
                <a:latin typeface="Lora"/>
              </a:rPr>
              <a:t>•  Contraction isn't a fault. It's information.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CE8EA"/>
                </a:solidFill>
                <a:latin typeface="Lora"/>
              </a:rPr>
              <a:t>•  Coming home to your body means learning to read and trust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9A8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423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CE8EA"/>
                </a:solidFill>
                <a:latin typeface="Belleza"/>
              </a:rPr>
              <a:t>Safety is the sacred ground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9A8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FCE8EA"/>
                </a:solidFill>
                <a:latin typeface="Lora"/>
              </a:rPr>
              <a:t>Nothing is pushed. You go at your own pace. Your yes is real because your no is allowed.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9A8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4BBC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74234F"/>
                </a:solidFill>
                <a:latin typeface="Lora"/>
              </a:rPr>
              <a:t>TAKE A MOMENT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1D283C"/>
                </a:solidFill>
                <a:latin typeface="Belleza"/>
              </a:rPr>
              <a:t>Reflect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74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300" i="0">
                <a:solidFill>
                  <a:srgbClr val="1D283C"/>
                </a:solidFill>
                <a:latin typeface="Lora"/>
              </a:rPr>
              <a:t>•  Where do I feel myself contract or close down?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1D283C"/>
                </a:solidFill>
                <a:latin typeface="Lora"/>
              </a:rPr>
              <a:t>•  What happens when I try to fix it?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1D283C"/>
                </a:solidFill>
                <a:latin typeface="Lora"/>
              </a:rPr>
              <a:t>•  What could I open to, even while it's here?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74234F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46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9A86D"/>
                </a:solidFill>
                <a:latin typeface="Lora"/>
              </a:rPr>
              <a:t>IN PAIRS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CE8EA"/>
                </a:solidFill>
                <a:latin typeface="Belleza"/>
              </a:rPr>
              <a:t>Breakout · The part that closes down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9A8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300" i="0">
                <a:solidFill>
                  <a:srgbClr val="FCE8EA"/>
                </a:solidFill>
                <a:latin typeface="Lora"/>
              </a:rPr>
              <a:t>•  I feel myself contract when...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CE8EA"/>
                </a:solidFill>
                <a:latin typeface="Lora"/>
              </a:rPr>
              <a:t>•  What happens when I try to fix it is...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CE8EA"/>
                </a:solidFill>
                <a:latin typeface="Lora"/>
              </a:rPr>
              <a:t>•  What I could open to, even while it's there, is...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CE8EA"/>
                </a:solidFill>
                <a:latin typeface="Lora"/>
              </a:rPr>
              <a:t>•  Partner: witness. Then swap.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9A8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E8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74234F"/>
                </a:solidFill>
                <a:latin typeface="Lora"/>
              </a:rPr>
              <a:t>WHAT IT MEANS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1D283C"/>
                </a:solidFill>
                <a:latin typeface="Belleza"/>
              </a:rPr>
              <a:t>What sacred sexuality means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74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300" i="0">
                <a:solidFill>
                  <a:srgbClr val="1D283C"/>
                </a:solidFill>
                <a:latin typeface="Lora"/>
              </a:rPr>
              <a:t>•  Bringing intention, presence and reverence to sex, so it's more than a physical act.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1D283C"/>
                </a:solidFill>
                <a:latin typeface="Lora"/>
              </a:rPr>
              <a:t>•  A doorway to something larger than you: the divine, life force, oneness, love.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1D283C"/>
                </a:solidFill>
                <a:latin typeface="Lora"/>
              </a:rPr>
              <a:t>•  The act doesn't change. The awareness you bring does. Communion, not performance.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74234F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8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9A86D"/>
                </a:solidFill>
                <a:latin typeface="Lora"/>
              </a:rPr>
              <a:t>HOW THEY CONNECT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CE8EA"/>
                </a:solidFill>
                <a:latin typeface="Belleza"/>
              </a:rPr>
              <a:t>The same longing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9A8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300" i="0">
                <a:solidFill>
                  <a:srgbClr val="FCE8EA"/>
                </a:solidFill>
                <a:latin typeface="Lora"/>
              </a:rPr>
              <a:t>•  Both spring from the same root: desire and longing.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CE8EA"/>
                </a:solidFill>
                <a:latin typeface="Lora"/>
              </a:rPr>
              <a:t>•  Sexuality: the longing to know and be known, to merge with another.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CE8EA"/>
                </a:solidFill>
                <a:latin typeface="Lora"/>
              </a:rPr>
              <a:t>•  Spirituality: the same longing, pointed at the whole, to belong to something greater.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CE8EA"/>
                </a:solidFill>
                <a:latin typeface="Lora"/>
              </a:rPr>
              <a:t>•  Two directions, one yearning, to end separateness.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9A8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423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CE8EA"/>
                </a:solidFill>
                <a:latin typeface="Belleza"/>
              </a:rPr>
              <a:t>The body is the doorway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9A8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300" i="0">
                <a:solidFill>
                  <a:srgbClr val="FCE8EA"/>
                </a:solidFill>
                <a:latin typeface="Lora"/>
              </a:rPr>
              <a:t>•  Tantra never split them. Body-shameful, spirit-holy is the wound, not the truth.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CE8EA"/>
                </a:solidFill>
                <a:latin typeface="Lora"/>
              </a:rPr>
              <a:t>•  Transcendence, like pleasure, moves through the body, not around it.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CE8EA"/>
                </a:solidFill>
                <a:latin typeface="Lora"/>
              </a:rPr>
              <a:t>•  You reach the sacred by going in, not rising above.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9A8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A1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74234F"/>
                </a:solidFill>
                <a:latin typeface="Lora"/>
              </a:rPr>
              <a:t>THE EVIDENCE · IT'S REAL, NOT WOO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1D283C"/>
                </a:solidFill>
                <a:latin typeface="Belleza"/>
              </a:rPr>
              <a:t>Presence is the skill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74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1D283C"/>
                </a:solidFill>
                <a:latin typeface="Lora"/>
              </a:rPr>
              <a:t>Mindfulness measurably improves women's desire, arousal and satisfaction (Dr Lori Brotto). The spiritual muscle and the sexual one are the same: presence.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74234F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8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CE8EA"/>
                </a:solidFill>
                <a:latin typeface="Belleza"/>
              </a:rPr>
              <a:t>Union is literal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9A8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FCE8EA"/>
                </a:solidFill>
                <a:latin typeface="Lora"/>
              </a:rPr>
              <a:t>In eye-gaze studies, two people's brains, even their blinking, begin to synchronise, and they feel closer. Becoming one isn't only poetry.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9A8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86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1D283C"/>
                </a:solidFill>
                <a:latin typeface="Belleza"/>
              </a:rPr>
              <a:t>A chemistry of the sacred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74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1D283C"/>
                </a:solidFill>
                <a:latin typeface="Lora"/>
              </a:rPr>
              <a:t>Touch and intimacy release oxytocin, dopamine and endorphins: bonding, trust, dissolved boundaries, the afterglow.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74234F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4BBC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1D283C"/>
                </a:solidFill>
                <a:latin typeface="Belleza"/>
              </a:rPr>
              <a:t>Vulnerability is the gateway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74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1D283C"/>
                </a:solidFill>
                <a:latin typeface="Lora"/>
              </a:rPr>
              <a:t>Being truly seen is tied to the deepest connection, the same vulnerability the traditions call surrender.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74234F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423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5400">
                <a:solidFill>
                  <a:srgbClr val="FCE8EA"/>
                </a:solidFill>
                <a:latin typeface="Belleza"/>
              </a:rPr>
              <a:t>Your body is a gift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3977640"/>
            <a:ext cx="1463040" cy="38100"/>
          </a:xfrm>
          <a:prstGeom prst="rect">
            <a:avLst/>
          </a:prstGeom>
          <a:solidFill>
            <a:srgbClr val="C9A8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297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FCE8EA"/>
                </a:solidFill>
                <a:latin typeface="Lora"/>
              </a:rPr>
              <a:t>Received as a gift, and trusted as your guidance, your body isn't the obstacle to the sacred. It's the doorway.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9A8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A1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1D283C"/>
                </a:solidFill>
                <a:latin typeface="Belleza"/>
              </a:rPr>
              <a:t>Practice · Sacred breath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74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1D283C"/>
                </a:solidFill>
                <a:latin typeface="Lora"/>
              </a:rPr>
              <a:t>Hand on heart, hand on belly. Breathe into your womb space. If you contract, let it be. Just open, breath by breath. I'm here. I love you. Thank you.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74234F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4BBC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74234F"/>
                </a:solidFill>
                <a:latin typeface="Lora"/>
              </a:rPr>
              <a:t>IN PAIRS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1D283C"/>
                </a:solidFill>
                <a:latin typeface="Belleza"/>
              </a:rPr>
              <a:t>Breakout · From shame to sacred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74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300" i="0">
                <a:solidFill>
                  <a:srgbClr val="1D283C"/>
                </a:solidFill>
                <a:latin typeface="Lora"/>
              </a:rPr>
              <a:t>•  A pleasure I stopped letting myself feel is...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1D283C"/>
                </a:solidFill>
                <a:latin typeface="Lora"/>
              </a:rPr>
              <a:t>•  One sacred pleasure I'll give myself is...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1D283C"/>
                </a:solidFill>
                <a:latin typeface="Lora"/>
              </a:rPr>
              <a:t>•  The part of my body I'm ready to make peace with is...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1D283C"/>
                </a:solidFill>
                <a:latin typeface="Lora"/>
              </a:rPr>
              <a:t>•  Then swap.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74234F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8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9A86D"/>
                </a:solidFill>
                <a:latin typeface="Lora"/>
              </a:rPr>
              <a:t>TAKE HOME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CE8EA"/>
                </a:solidFill>
                <a:latin typeface="Belleza"/>
              </a:rPr>
              <a:t>This week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9A8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300" i="0">
                <a:solidFill>
                  <a:srgbClr val="FCE8EA"/>
                </a:solidFill>
                <a:latin typeface="Lora"/>
              </a:rPr>
              <a:t>•  Candle. Hand on heart, hand on belly.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CE8EA"/>
                </a:solidFill>
                <a:latin typeface="Lora"/>
              </a:rPr>
              <a:t>•  I'm here. I love you. Thank you.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CE8EA"/>
                </a:solidFill>
                <a:latin typeface="Lora"/>
              </a:rPr>
              <a:t>•  One small thing that treats your body as sacred.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9A8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8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9A86D"/>
                </a:solidFill>
                <a:latin typeface="Lora"/>
              </a:rPr>
              <a:t>RADIANT WOMEN'S CIRCLE  ·  SESSION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5400">
                <a:solidFill>
                  <a:srgbClr val="FCE8EA"/>
                </a:solidFill>
                <a:latin typeface="Belleza"/>
              </a:rPr>
              <a:t>Spirituality &amp; Sexuality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977640"/>
            <a:ext cx="1463040" cy="38100"/>
          </a:xfrm>
          <a:prstGeom prst="rect">
            <a:avLst/>
          </a:prstGeom>
          <a:solidFill>
            <a:srgbClr val="C9A8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297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FCE8EA"/>
                </a:solidFill>
                <a:latin typeface="Lora"/>
              </a:rPr>
              <a:t>The Sacred Union: deepening connection during lovemaking.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9A8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423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5400">
                <a:solidFill>
                  <a:srgbClr val="FCE8EA"/>
                </a:solidFill>
                <a:latin typeface="Belleza"/>
              </a:rPr>
              <a:t>Slow is sacred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3977640"/>
            <a:ext cx="1463040" cy="38100"/>
          </a:xfrm>
          <a:prstGeom prst="rect">
            <a:avLst/>
          </a:prstGeom>
          <a:solidFill>
            <a:srgbClr val="C9A8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297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FCE8EA"/>
                </a:solidFill>
                <a:latin typeface="Lora"/>
              </a:rPr>
              <a:t>You can't build deep connection at full speed. Make love the way you'd meditate: fully here, in no hurry.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9A8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E8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1D283C"/>
                </a:solidFill>
                <a:latin typeface="Belleza"/>
              </a:rPr>
              <a:t>Presence, not performance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74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1D283C"/>
                </a:solidFill>
                <a:latin typeface="Lora"/>
              </a:rPr>
              <a:t>Sacred union isn't about arriving anywhere. Slowness makes space for feeling, and feeling makes it sacred.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74234F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4BBC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74234F"/>
                </a:solidFill>
                <a:latin typeface="Lora"/>
              </a:rPr>
              <a:t>TAKE A MOMENT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1D283C"/>
                </a:solidFill>
                <a:latin typeface="Belleza"/>
              </a:rPr>
              <a:t>Reflect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74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300" i="0">
                <a:solidFill>
                  <a:srgbClr val="1D283C"/>
                </a:solidFill>
                <a:latin typeface="Lora"/>
              </a:rPr>
              <a:t>•  When do I feel truly safe and connected?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1D283C"/>
                </a:solidFill>
                <a:latin typeface="Lora"/>
              </a:rPr>
              <a:t>•  What do I long for that I've never said out loud?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1D283C"/>
                </a:solidFill>
                <a:latin typeface="Lora"/>
              </a:rPr>
              <a:t>•  What helps me stay present instead of performing?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74234F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A1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1D283C"/>
                </a:solidFill>
                <a:latin typeface="Belleza"/>
              </a:rPr>
              <a:t>Practice · Eye gaze &amp; breath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74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1D283C"/>
                </a:solidFill>
                <a:latin typeface="Lora"/>
              </a:rPr>
              <a:t>Soften your gaze. Breathe together. Simply witness and be witnessed. Let yourself be seen.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74234F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46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9A86D"/>
                </a:solidFill>
                <a:latin typeface="Lora"/>
              </a:rPr>
              <a:t>IN PAIRS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CE8EA"/>
                </a:solidFill>
                <a:latin typeface="Belleza"/>
              </a:rPr>
              <a:t>Breakout · Safe and connected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9A8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300" i="0">
                <a:solidFill>
                  <a:srgbClr val="FCE8EA"/>
                </a:solidFill>
                <a:latin typeface="Lora"/>
              </a:rPr>
              <a:t>•  I feel most safe and connected when...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CE8EA"/>
                </a:solidFill>
                <a:latin typeface="Lora"/>
              </a:rPr>
              <a:t>•  What pulls me out of presence is...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CE8EA"/>
                </a:solidFill>
                <a:latin typeface="Lora"/>
              </a:rPr>
              <a:t>•  What helps me come back is...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CE8EA"/>
                </a:solidFill>
                <a:latin typeface="Lora"/>
              </a:rPr>
              <a:t>•  Then swap.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9A8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8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CE8EA"/>
                </a:solidFill>
                <a:latin typeface="Belleza"/>
              </a:rPr>
              <a:t>Create sacred space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9A8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FCE8EA"/>
                </a:solidFill>
                <a:latin typeface="Lora"/>
              </a:rPr>
              <a:t>Candles. Soft music. Beautiful fabrics. A door that closes. You're telling your body: this is sacred time.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9A8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86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1D283C"/>
                </a:solidFill>
                <a:latin typeface="Belleza"/>
              </a:rPr>
              <a:t>The dance of love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74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1D283C"/>
                </a:solidFill>
                <a:latin typeface="Lora"/>
              </a:rPr>
              <a:t>Breathe together. Eye gaze. Then touch, slowly, with no destination. Take turns giving and receiving.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74234F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4BBC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74234F"/>
                </a:solidFill>
                <a:latin typeface="Lora"/>
              </a:rPr>
              <a:t>IN PAIRS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1D283C"/>
                </a:solidFill>
                <a:latin typeface="Belleza"/>
              </a:rPr>
              <a:t>Breakout · Desire &amp; receiving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74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300" i="0">
                <a:solidFill>
                  <a:srgbClr val="1D283C"/>
                </a:solidFill>
                <a:latin typeface="Lora"/>
              </a:rPr>
              <a:t>•  Speak a desire, cleanly and warmly: I long for...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1D283C"/>
                </a:solidFill>
                <a:latin typeface="Lora"/>
              </a:rPr>
              <a:t>•  Receive an appreciation. Just say thank you. Let it land.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1D283C"/>
                </a:solidFill>
                <a:latin typeface="Lora"/>
              </a:rPr>
              <a:t>•  Notice the urge to deflect.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1D283C"/>
                </a:solidFill>
                <a:latin typeface="Lora"/>
              </a:rPr>
              <a:t>•  Then swap.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74234F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423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9A86D"/>
                </a:solidFill>
                <a:latin typeface="Lora"/>
              </a:rPr>
              <a:t>TAKE HOME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CE8EA"/>
                </a:solidFill>
                <a:latin typeface="Belleza"/>
              </a:rPr>
              <a:t>This week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9A8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300" i="0">
                <a:solidFill>
                  <a:srgbClr val="FCE8EA"/>
                </a:solidFill>
                <a:latin typeface="Lora"/>
              </a:rPr>
              <a:t>•  One pocket of sacred time. Light a candle.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CE8EA"/>
                </a:solidFill>
                <a:latin typeface="Lora"/>
              </a:rPr>
              <a:t>•  Breathe together. Eye gaze for three minutes.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CE8EA"/>
                </a:solidFill>
                <a:latin typeface="Lora"/>
              </a:rPr>
              <a:t>•  Slow, reverent touch, with no goal. Just presence.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9A8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8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5400">
                <a:solidFill>
                  <a:srgbClr val="FCE8EA"/>
                </a:solidFill>
                <a:latin typeface="Belleza"/>
              </a:rPr>
              <a:t>You are sacred.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3977640"/>
            <a:ext cx="1463040" cy="38100"/>
          </a:xfrm>
          <a:prstGeom prst="rect">
            <a:avLst/>
          </a:prstGeom>
          <a:solidFill>
            <a:srgbClr val="C9A8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297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FCE8EA"/>
                </a:solidFill>
                <a:latin typeface="Lora"/>
              </a:rPr>
              <a:t>Your body. Your pleasure. Your desire. All holy.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9A8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