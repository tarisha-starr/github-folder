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Light the candle. Read the sacred-space agreements: what's shared here stays here; we witness, we don't fix; you can always pass or slow down; there's no such thing as too much in this room; this is a reverent, judgement-free space. Then settle them: eyes closed, feet on the floor, soften jaw, shoulders, belly, three slow breaths down into the pelvis. 'Tonight we do something most of us were never allowed to do: we treat your body, your pleasure and your desire as holy.' One-word go-round: how are you arriving?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always begin here. Say it simply: you can't open to anything bigger while you're at war with yourself. So before anything else, we come home to ourselves with kindness.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the practice slowly, hands on heart: 'Both hands on your heart. Feel the warmth. Ask yourself, the way you'd ask your dearest friend: How are you, really? What's going on for you? Listen. Then say: I hear you. I'm here. If something tender rises: I see this, and I'm not going anywhere. Nothing to fix. Nothing to perform. Just meeting yourself with kindness.' Sit in it two to three minutes. This is the ground everything stands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two steps, in order. Step one is awareness: noticing the moment you close down, contract, go reactive, the old story that says 'not enough.' Step two is self-love. But awareness alone can curdle into self-criticism, 'I can feel it and I still do it, what's wrong with me?' So the key of step two: you don't need to fix yourself. You are not a problem to be solved.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You can feel yourself contracting, closing, bracing, and you don't have to make it go away. Nothing about you needs solving tonight.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it. The practice is not getting rid of the contraction. The practice is opening to something bigger than you, irrespective of the contraction. You feel yourself close, and you open anyway, not by forcing yourself open, and not by fixing the closing first, but by turning toward something larger while the contraction is still here: love, life, breath, the sacred. Over time the contraction stops running the show, not because you defeated it, but because you stopped making it the centre.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trap. Spirituality is not bypassing. Bypassing uses 'love and light' to rise above your humanness and pretend the hurt or fear isn't there, which buries it. Real practice does the opposite: it lets the contracted, scared, reactive parts stay exactly as they are, and opens to something bigger while holding them with love. Those parts are usually young and protective. You don't shame them, and you don't fix them. You let them be held.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Blueprint. Your body is always guiding you: it speaks in contraction and opening, yes and no, turn-on and turn-off. That is your Blueprint, your inner guidance system. Most of us were taught to override it and not trust it. Coming home to your body means learning to read and trust those signals again. So when you feel yourself close, that's not a fault, it's information from your guidance system.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this is sacred without safety. Sacred means you're never pushed, never performing, never abandoning yourself. Your yes is real because your no is allowed. Consent, first with yourself, is the beginning of anything holy. Everything tonight is an invitation: take what's yours, leave the rest.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the reflection questions and let them sit in silence for a moment before the breakout: Where do I feel myself contract or close down? What happens when I try to fix it? What could I open to, even while the contraction is still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Broadcast to the rooms before opening them. In pairs, Partner A for about 6 minutes: 'I feel myself contract or close down when...' / 'What happens when I try to fix it is...' / 'What I could open to, even while it's there, is...' Partner B simply witnesses, no fixing, for them or for themselves. Then swap. Re-broadcast the swap at halfway. Bring everyone back for a one-sentence go-round: 'What I can open to, even while I'm contracted, 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it warmly. Sacred sexuality means bringing intention, presence and reverence to sex, so it becomes more than a physical act. It's a doorway to connection with something larger than yourself, name it however you like: the divine, life force, oneness, love. The act itself doesn't change. The awareness you bring to it does. Approached with presence, sex becomes communion, not performance or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they connect: sexuality and spirituality spring from the same root, desire and longing. Sexuality is the longing to know and be known, to merge with and be met by another, body, heart and soul. Spirituality is that same longing pointed at the whole, to dissolve into and belong to something greater. Two directions, one yearning, to end separateness. That's why the old traditions never split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Tantra never split body and spirit. The Western split, body shameful, spirit holy, is the wound, not the truth. Transcendence, like pleasure, moves through the body, not around it. You reach the sacred by going into the body, not by rising above it. This is exactly why bypassing can't get you there.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evidence: this isn't wishful thinking. Dr Lori Brotto's clinical studies show mindfulness, simply being present in the body, measurably improves women's desire, arousal and satisfaction, held at six-month follow-up. The spiritual muscle and the sexual muscle are the same muscle: presence. And presence is trainable.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studies of mutual eye gaze, two people's brain activity, and even their blinking, begin to synchronise, and they feel measurably closer. 'Becoming one' isn't only poetry, there's a biology to it. This is why eye gazing is in the practices.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Touch and intimacy release oxytocin, dopamine and endorphins: bonding, trust, dissolved boundaries, the afterglow. That merged, spacious, melted feeling women describe has a real chemistry. Connection literally soothes the nervous system.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ties being truly seen to the deepest connection, the very vulnerability the spiritual traditions call surrender. Letting yourself be seen is both the sexual and the spiritual doorway.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it all together. Received as a gift, not a project to fix, and trusted as your guidance, your body isn't the obstacle to the sacred. It's the doorway. A gift is received, not earned. That's the posture of both pleasure and the sacred.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slowly, cameras optional. 'Both feet on the floor. One hand on your heart, one hand low on your belly. Breathe down, long and slow, into your womb space, the seat of your life force. Breathe in warmth. Breathe out, and if you feel yourself contract, let it be there, you're not making it leave, you're just opening, breath by breath, to something bigger. Now move your hands slowly, honouring your body. As you touch each part, thank her: what do your hands do for you, your hips, your belly? Send each part gratitude and love. Silently: I'm here. I love you. Thank you.' Pleasure opens in a body that feels adored.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first: what pleasure did I stop letting myself feel, and what would it mean to give it back? Then broadcast. In pairs, Partner A for about 6 minutes: 'A pleasure I stopped letting myself feel is...' / 'One small, sacred pleasure I could give myself this week is...' / 'The part of my body I'm ready to make peace with is...' Partner B witnesses with warmth. Swap. Main-room: name the one sacred pleasure you're claiming this week.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 them off. Each day this week, ten minutes: light a candle, hand on heart and hand on belly, breathe into the body and say 'I'm here. I love you. Thank you.' Then do one small thing that treats the body as sacred, a slow bath, silk on the skin, moving to music, dressing for no one but yourself. Closing round, one line each: 'The way I'll honour my body this week is...' Circle answers: 'She is sacred.' Blow out the candle together.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Soften them in as before, then recap the ground: last time we made the body sacred again; tonight we bring that reverence to connection; safety first, always, sacred union begins with your own yes. Go-round: one way I honoured my body this week. Pose the reflection questions for later: When do I feel truly safe and connected? What do I long for that I've never said out loud? What helps me stay present instead of performing?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is the secret. Most lovemaking rushes to stimulation and a goal, but you can't build deep connection at full speed. Sacred union isn't performance or arriving anywhere, it's presence. Make love the way you'd meditate or pray: fully here, fully awake, in no hurry at 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slow right down, something opens: space for feeling, space for vulnerability. And vulnerability is what lets two people actually meet, instead of two bodies going through the motions. Slowness turns sex into communion. Feeling is what makes it sacred.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and let land before the practice and breakout: When do I feel truly safe and connected with another, and what creates it? What do I long for in intimacy that I've never said out loud? What helps me stay present instead of performing or disappearing?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it. On Zoom they do it solo as rehearsal: hand on heart, or a soft gaze at their own eyes. 'Sit tall. Soften your gaze. Breathe slowly, in and out. Imagine sitting knee to knee with your beloved. You breathe together. You simply witness and are witnessed. No talking, no fixing, no performing. Notice the urge to look away or laugh, to break it. Stay anyway. Underneath the awkwardness there's a person who can be truly seen. Tonight, practise letting yourself be seen, starting with yourself.'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Broadcast. In pairs, Partner A about 6 minutes: 'I feel most safe and connected with someone when...' / 'What pulls me out of presence in intimacy is...' / 'What helps me come back is...' Partner B witnesses. Swap. Main-room: one thing that helps you feel safe and connected.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Lovemaking can be a ritual, and it starts before you ever touch. Create a special space: candles, soft music, fabrics that feel beautiful, a door that closes. You're telling your nervous system, and your beloved: this is sacred time.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dance of love, and it's slow. Breathe together first. Eye gaze. See each other's beauty, power and vulnerability. Then touch, slowly, feather the whole body, fingertips sending love, no destination. Take turns giving and receiving. Frame it as presence, not technique: the point isn't what you do, it's how present you are while you do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first: what do I desire that I've been too afraid to ask for, and what would it feel like to simply receive? Broadcast. In pairs, Partner A about 6 minutes, practising two things out loud: speak a desire cleanly and warmly, 'Something I long for in intimacy is...' (a desire, not a complaint); then practise receiving, let Partner B offer a genuine appreciation and simply say 'thank you,' let it land, notice the urge to deflect. Partner B witnesses and offers the appreciation. Swap. Main-room: what was harder, speaking your desire or receiving?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Take-home, solo or with a chosen partner: create one pocket of sacred time. Light a candle. Sit knee to knee, or hand on heart if solo. Breathe together a few minutes. Eye gaze for three. Then slow, reverent touch or self-touch, no goal at all, just presence and love. Notice how different it feels when you're fully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circle. Claiming round, one line each: 'The reverence I'm bringing to intimacy is...' The circle answers together, warm: 'Sacred.' Remind them: your body, your pleasure, your desire, all holy. Blow out the candle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C9A86D"/>
                </a:solidFill>
                <a:latin typeface="Lora"/>
              </a:rPr>
              <a:t>RADIANT WOMEN'S CIRCLE  ·  SESSION 1</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5400">
                <a:solidFill>
                  <a:srgbClr val="FCE8EA"/>
                </a:solidFill>
                <a:latin typeface="Belleza"/>
              </a:rPr>
              <a:t>Spirituality &amp; Sexuality</a:t>
            </a:r>
          </a:p>
        </p:txBody>
      </p:sp>
      <p:sp>
        <p:nvSpPr>
          <p:cNvPr id="4" name="Rectangle 3"/>
          <p:cNvSpPr/>
          <p:nvPr/>
        </p:nvSpPr>
        <p:spPr>
          <a:xfrm>
            <a:off x="822960" y="3977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2926080"/>
          </a:xfrm>
          <a:prstGeom prst="rect">
            <a:avLst/>
          </a:prstGeom>
          <a:noFill/>
        </p:spPr>
        <p:txBody>
          <a:bodyPr wrap="square">
            <a:spAutoFit/>
          </a:bodyPr>
          <a:lstStyle/>
          <a:p>
            <a:pPr>
              <a:spcAft>
                <a:spcPts val="1200"/>
              </a:spcAft>
            </a:pPr>
            <a:r>
              <a:rPr sz="2700" i="0">
                <a:solidFill>
                  <a:srgbClr val="FCE8EA"/>
                </a:solidFill>
                <a:latin typeface="Lora"/>
              </a:rPr>
              <a:t>The Sacred Woman: coming home to your body and desire.</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E8EA"/>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We begin with self-compassion</a:t>
            </a:r>
          </a:p>
        </p:txBody>
      </p:sp>
      <p:sp>
        <p:nvSpPr>
          <p:cNvPr id="3" name="Rectangle 2"/>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You can't open to anything bigger while you're at war with yourself.</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4BBC2"/>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74234F"/>
                </a:solidFill>
                <a:latin typeface="Lora"/>
              </a:rPr>
              <a:t>HANDS ON HEART</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Self-compassion</a:t>
            </a:r>
          </a:p>
        </p:txBody>
      </p:sp>
      <p:sp>
        <p:nvSpPr>
          <p:cNvPr id="4" name="Rectangle 3"/>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1D283C"/>
                </a:solidFill>
                <a:latin typeface="Lora"/>
              </a:rPr>
              <a:t>•  How are you, really? What's going on for you?</a:t>
            </a:r>
          </a:p>
          <a:p>
            <a:pPr>
              <a:spcAft>
                <a:spcPts val="1200"/>
              </a:spcAft>
            </a:pPr>
            <a:r>
              <a:rPr sz="2300" i="0">
                <a:solidFill>
                  <a:srgbClr val="1D283C"/>
                </a:solidFill>
                <a:latin typeface="Lora"/>
              </a:rPr>
              <a:t>•  I hear you. I'm here.</a:t>
            </a:r>
          </a:p>
          <a:p>
            <a:pPr>
              <a:spcAft>
                <a:spcPts val="1200"/>
              </a:spcAft>
            </a:pPr>
            <a:r>
              <a:rPr sz="2300" i="0">
                <a:solidFill>
                  <a:srgbClr val="1D283C"/>
                </a:solidFill>
                <a:latin typeface="Lora"/>
              </a:rPr>
              <a:t>•  Nothing to fix. Nothing to perform.</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Two steps</a:t>
            </a:r>
          </a:p>
        </p:txBody>
      </p:sp>
      <p:sp>
        <p:nvSpPr>
          <p:cNvPr id="3" name="Rectangle 2"/>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FCE8EA"/>
                </a:solidFill>
                <a:latin typeface="Lora"/>
              </a:rPr>
              <a:t>•  Step 1: Awareness. Notice the closing, the contraction.</a:t>
            </a:r>
          </a:p>
          <a:p>
            <a:pPr>
              <a:spcAft>
                <a:spcPts val="1200"/>
              </a:spcAft>
            </a:pPr>
            <a:r>
              <a:rPr sz="2300" i="0">
                <a:solidFill>
                  <a:srgbClr val="FCE8EA"/>
                </a:solidFill>
                <a:latin typeface="Lora"/>
              </a:rPr>
              <a:t>•  Step 2: Self-love. Meet it with kindness.</a:t>
            </a:r>
          </a:p>
          <a:p>
            <a:pPr>
              <a:spcAft>
                <a:spcPts val="1200"/>
              </a:spcAft>
            </a:pPr>
            <a:r>
              <a:rPr sz="2300" i="0">
                <a:solidFill>
                  <a:srgbClr val="FCE8EA"/>
                </a:solidFill>
                <a:latin typeface="Lora"/>
              </a:rPr>
              <a:t>•  And you don't need to fix yourself.</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74234F"/>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5400">
                <a:solidFill>
                  <a:srgbClr val="FCE8EA"/>
                </a:solidFill>
                <a:latin typeface="Belleza"/>
              </a:rPr>
              <a:t>You are not a problem to solve</a:t>
            </a:r>
          </a:p>
        </p:txBody>
      </p:sp>
      <p:sp>
        <p:nvSpPr>
          <p:cNvPr id="3" name="Rectangle 2"/>
          <p:cNvSpPr/>
          <p:nvPr/>
        </p:nvSpPr>
        <p:spPr>
          <a:xfrm>
            <a:off x="822960" y="3977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297680"/>
            <a:ext cx="10515600" cy="2926080"/>
          </a:xfrm>
          <a:prstGeom prst="rect">
            <a:avLst/>
          </a:prstGeom>
          <a:noFill/>
        </p:spPr>
        <p:txBody>
          <a:bodyPr wrap="square">
            <a:spAutoFit/>
          </a:bodyPr>
          <a:lstStyle/>
          <a:p>
            <a:pPr>
              <a:spcAft>
                <a:spcPts val="1200"/>
              </a:spcAft>
            </a:pPr>
            <a:r>
              <a:rPr sz="2700" i="0">
                <a:solidFill>
                  <a:srgbClr val="FCE8EA"/>
                </a:solidFill>
                <a:latin typeface="Lora"/>
              </a:rPr>
              <a:t>You can feel yourself contract, close, brace, and you don't have to make it go away.</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C9A86D"/>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The practice</a:t>
            </a:r>
          </a:p>
        </p:txBody>
      </p:sp>
      <p:sp>
        <p:nvSpPr>
          <p:cNvPr id="3" name="Rectangle 2"/>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Not getting rid of the contraction. Opening to something bigger, irrespective of the contraction. You feel yourself close, and you open anyway.</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Not bypassing</a:t>
            </a:r>
          </a:p>
        </p:txBody>
      </p:sp>
      <p:sp>
        <p:nvSpPr>
          <p:cNvPr id="3" name="Rectangle 2"/>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FCE8EA"/>
                </a:solidFill>
                <a:latin typeface="Lora"/>
              </a:rPr>
              <a:t>We don't rise above our humanness. We let the scared, contracted parts stay, and open to something bigger while holding them with love.</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4652"/>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C9A86D"/>
                </a:solidFill>
                <a:latin typeface="Lora"/>
              </a:rPr>
              <a:t>YOUR INNER GUIDANCE SYSTEM</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Your body is your Blueprint</a:t>
            </a:r>
          </a:p>
        </p:txBody>
      </p:sp>
      <p:sp>
        <p:nvSpPr>
          <p:cNvPr id="4" name="Rectangle 3"/>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FCE8EA"/>
                </a:solidFill>
                <a:latin typeface="Lora"/>
              </a:rPr>
              <a:t>•  Your body is always guiding you: contraction and opening, yes and no.</a:t>
            </a:r>
          </a:p>
          <a:p>
            <a:pPr>
              <a:spcAft>
                <a:spcPts val="1200"/>
              </a:spcAft>
            </a:pPr>
            <a:r>
              <a:rPr sz="2300" i="0">
                <a:solidFill>
                  <a:srgbClr val="FCE8EA"/>
                </a:solidFill>
                <a:latin typeface="Lora"/>
              </a:rPr>
              <a:t>•  Contraction isn't a fault. It's information.</a:t>
            </a:r>
          </a:p>
          <a:p>
            <a:pPr>
              <a:spcAft>
                <a:spcPts val="1200"/>
              </a:spcAft>
            </a:pPr>
            <a:r>
              <a:rPr sz="2300" i="0">
                <a:solidFill>
                  <a:srgbClr val="FCE8EA"/>
                </a:solidFill>
                <a:latin typeface="Lora"/>
              </a:rPr>
              <a:t>•  Coming home to your body means learning to read and trust it.</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74234F"/>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Safety is the sacred ground</a:t>
            </a:r>
          </a:p>
        </p:txBody>
      </p:sp>
      <p:sp>
        <p:nvSpPr>
          <p:cNvPr id="3" name="Rectangle 2"/>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FCE8EA"/>
                </a:solidFill>
                <a:latin typeface="Lora"/>
              </a:rPr>
              <a:t>Nothing is pushed. You go at your own pace. Your yes is real because your no is allowed.</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4BBC2"/>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74234F"/>
                </a:solidFill>
                <a:latin typeface="Lora"/>
              </a:rPr>
              <a:t>TAKE A MOMENT</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Reflect</a:t>
            </a:r>
          </a:p>
        </p:txBody>
      </p:sp>
      <p:sp>
        <p:nvSpPr>
          <p:cNvPr id="4" name="Rectangle 3"/>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1D283C"/>
                </a:solidFill>
                <a:latin typeface="Lora"/>
              </a:rPr>
              <a:t>•  Where do I feel myself contract or close down?</a:t>
            </a:r>
          </a:p>
          <a:p>
            <a:pPr>
              <a:spcAft>
                <a:spcPts val="1200"/>
              </a:spcAft>
            </a:pPr>
            <a:r>
              <a:rPr sz="2300" i="0">
                <a:solidFill>
                  <a:srgbClr val="1D283C"/>
                </a:solidFill>
                <a:latin typeface="Lora"/>
              </a:rPr>
              <a:t>•  What happens when I try to fix it?</a:t>
            </a:r>
          </a:p>
          <a:p>
            <a:pPr>
              <a:spcAft>
                <a:spcPts val="1200"/>
              </a:spcAft>
            </a:pPr>
            <a:r>
              <a:rPr sz="2300" i="0">
                <a:solidFill>
                  <a:srgbClr val="1D283C"/>
                </a:solidFill>
                <a:latin typeface="Lora"/>
              </a:rPr>
              <a:t>•  What could I open to, even while it's here?</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24652"/>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C9A86D"/>
                </a:solidFill>
                <a:latin typeface="Lora"/>
              </a:rPr>
              <a:t>IN PAIRS</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Breakout · The part that closes down</a:t>
            </a:r>
          </a:p>
        </p:txBody>
      </p:sp>
      <p:sp>
        <p:nvSpPr>
          <p:cNvPr id="4" name="Rectangle 3"/>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FCE8EA"/>
                </a:solidFill>
                <a:latin typeface="Lora"/>
              </a:rPr>
              <a:t>•  I feel myself contract when...</a:t>
            </a:r>
          </a:p>
          <a:p>
            <a:pPr>
              <a:spcAft>
                <a:spcPts val="1200"/>
              </a:spcAft>
            </a:pPr>
            <a:r>
              <a:rPr sz="2300" i="0">
                <a:solidFill>
                  <a:srgbClr val="FCE8EA"/>
                </a:solidFill>
                <a:latin typeface="Lora"/>
              </a:rPr>
              <a:t>•  What happens when I try to fix it is...</a:t>
            </a:r>
          </a:p>
          <a:p>
            <a:pPr>
              <a:spcAft>
                <a:spcPts val="1200"/>
              </a:spcAft>
            </a:pPr>
            <a:r>
              <a:rPr sz="2300" i="0">
                <a:solidFill>
                  <a:srgbClr val="FCE8EA"/>
                </a:solidFill>
                <a:latin typeface="Lora"/>
              </a:rPr>
              <a:t>•  What I could open to, even while it's there, is...</a:t>
            </a:r>
          </a:p>
          <a:p>
            <a:pPr>
              <a:spcAft>
                <a:spcPts val="1200"/>
              </a:spcAft>
            </a:pPr>
            <a:r>
              <a:rPr sz="2300" i="0">
                <a:solidFill>
                  <a:srgbClr val="FCE8EA"/>
                </a:solidFill>
                <a:latin typeface="Lora"/>
              </a:rPr>
              <a:t>•  Partner: witness. Then swap.</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E8EA"/>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74234F"/>
                </a:solidFill>
                <a:latin typeface="Lora"/>
              </a:rPr>
              <a:t>WHAT IT MEANS</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What sacred sexuality means</a:t>
            </a:r>
          </a:p>
        </p:txBody>
      </p:sp>
      <p:sp>
        <p:nvSpPr>
          <p:cNvPr id="4" name="Rectangle 3"/>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1D283C"/>
                </a:solidFill>
                <a:latin typeface="Lora"/>
              </a:rPr>
              <a:t>•  Bringing intention, presence and reverence to sex, so it's more than a physical act.</a:t>
            </a:r>
          </a:p>
          <a:p>
            <a:pPr>
              <a:spcAft>
                <a:spcPts val="1200"/>
              </a:spcAft>
            </a:pPr>
            <a:r>
              <a:rPr sz="2300" i="0">
                <a:solidFill>
                  <a:srgbClr val="1D283C"/>
                </a:solidFill>
                <a:latin typeface="Lora"/>
              </a:rPr>
              <a:t>•  A doorway to something larger than you: the divine, life force, oneness, love.</a:t>
            </a:r>
          </a:p>
          <a:p>
            <a:pPr>
              <a:spcAft>
                <a:spcPts val="1200"/>
              </a:spcAft>
            </a:pPr>
            <a:r>
              <a:rPr sz="2300" i="0">
                <a:solidFill>
                  <a:srgbClr val="1D283C"/>
                </a:solidFill>
                <a:latin typeface="Lora"/>
              </a:rPr>
              <a:t>•  The act doesn't change. The awareness you bring does. Communion, not performance.</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C9A86D"/>
                </a:solidFill>
                <a:latin typeface="Lora"/>
              </a:rPr>
              <a:t>HOW THEY CONNECT</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The same longing</a:t>
            </a:r>
          </a:p>
        </p:txBody>
      </p:sp>
      <p:sp>
        <p:nvSpPr>
          <p:cNvPr id="4" name="Rectangle 3"/>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FCE8EA"/>
                </a:solidFill>
                <a:latin typeface="Lora"/>
              </a:rPr>
              <a:t>•  Both spring from the same root: desire and longing.</a:t>
            </a:r>
          </a:p>
          <a:p>
            <a:pPr>
              <a:spcAft>
                <a:spcPts val="1200"/>
              </a:spcAft>
            </a:pPr>
            <a:r>
              <a:rPr sz="2300" i="0">
                <a:solidFill>
                  <a:srgbClr val="FCE8EA"/>
                </a:solidFill>
                <a:latin typeface="Lora"/>
              </a:rPr>
              <a:t>•  Sexuality: the longing to know and be known, to merge with another.</a:t>
            </a:r>
          </a:p>
          <a:p>
            <a:pPr>
              <a:spcAft>
                <a:spcPts val="1200"/>
              </a:spcAft>
            </a:pPr>
            <a:r>
              <a:rPr sz="2300" i="0">
                <a:solidFill>
                  <a:srgbClr val="FCE8EA"/>
                </a:solidFill>
                <a:latin typeface="Lora"/>
              </a:rPr>
              <a:t>•  Spirituality: the same longing, pointed at the whole, to belong to something greater.</a:t>
            </a:r>
          </a:p>
          <a:p>
            <a:pPr>
              <a:spcAft>
                <a:spcPts val="1200"/>
              </a:spcAft>
            </a:pPr>
            <a:r>
              <a:rPr sz="2300" i="0">
                <a:solidFill>
                  <a:srgbClr val="FCE8EA"/>
                </a:solidFill>
                <a:latin typeface="Lora"/>
              </a:rPr>
              <a:t>•  Two directions, one yearning, to end separateness.</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74234F"/>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The body is the doorway</a:t>
            </a:r>
          </a:p>
        </p:txBody>
      </p:sp>
      <p:sp>
        <p:nvSpPr>
          <p:cNvPr id="3" name="Rectangle 2"/>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FCE8EA"/>
                </a:solidFill>
                <a:latin typeface="Lora"/>
              </a:rPr>
              <a:t>•  Tantra never split them. Body-shameful, spirit-holy is the wound, not the truth.</a:t>
            </a:r>
          </a:p>
          <a:p>
            <a:pPr>
              <a:spcAft>
                <a:spcPts val="1200"/>
              </a:spcAft>
            </a:pPr>
            <a:r>
              <a:rPr sz="2300" i="0">
                <a:solidFill>
                  <a:srgbClr val="FCE8EA"/>
                </a:solidFill>
                <a:latin typeface="Lora"/>
              </a:rPr>
              <a:t>•  Transcendence, like pleasure, moves through the body, not around it.</a:t>
            </a:r>
          </a:p>
          <a:p>
            <a:pPr>
              <a:spcAft>
                <a:spcPts val="1200"/>
              </a:spcAft>
            </a:pPr>
            <a:r>
              <a:rPr sz="2300" i="0">
                <a:solidFill>
                  <a:srgbClr val="FCE8EA"/>
                </a:solidFill>
                <a:latin typeface="Lora"/>
              </a:rPr>
              <a:t>•  You reach the sacred by going in, not rising above.</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7CA1A5"/>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74234F"/>
                </a:solidFill>
                <a:latin typeface="Lora"/>
              </a:rPr>
              <a:t>THE EVIDENCE · IT'S REAL, NOT WOO</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Presence is the skill</a:t>
            </a:r>
          </a:p>
        </p:txBody>
      </p:sp>
      <p:sp>
        <p:nvSpPr>
          <p:cNvPr id="4" name="Rectangle 3"/>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Mindfulness measurably improves women's desire, arousal and satisfaction (Dr Lori Brotto). The spiritual muscle and the sexual one are the same: presence.</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Union is literal</a:t>
            </a:r>
          </a:p>
        </p:txBody>
      </p:sp>
      <p:sp>
        <p:nvSpPr>
          <p:cNvPr id="3" name="Rectangle 2"/>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FCE8EA"/>
                </a:solidFill>
                <a:latin typeface="Lora"/>
              </a:rPr>
              <a:t>In eye-gaze studies, two people's brains, even their blinking, begin to synchronise, and they feel closer. Becoming one isn't only poetry.</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C9A86D"/>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A chemistry of the sacred</a:t>
            </a:r>
          </a:p>
        </p:txBody>
      </p:sp>
      <p:sp>
        <p:nvSpPr>
          <p:cNvPr id="3" name="Rectangle 2"/>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Touch and intimacy release oxytocin, dopamine and endorphins: bonding, trust, dissolved boundaries, the afterglow.</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4BBC2"/>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Vulnerability is the gateway</a:t>
            </a:r>
          </a:p>
        </p:txBody>
      </p:sp>
      <p:sp>
        <p:nvSpPr>
          <p:cNvPr id="3" name="Rectangle 2"/>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Being truly seen is tied to the deepest connection, the same vulnerability the traditions call surrender.</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4234F"/>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5400">
                <a:solidFill>
                  <a:srgbClr val="FCE8EA"/>
                </a:solidFill>
                <a:latin typeface="Belleza"/>
              </a:rPr>
              <a:t>Your body is a gift</a:t>
            </a:r>
          </a:p>
        </p:txBody>
      </p:sp>
      <p:sp>
        <p:nvSpPr>
          <p:cNvPr id="3" name="Rectangle 2"/>
          <p:cNvSpPr/>
          <p:nvPr/>
        </p:nvSpPr>
        <p:spPr>
          <a:xfrm>
            <a:off x="822960" y="3977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297680"/>
            <a:ext cx="10515600" cy="2926080"/>
          </a:xfrm>
          <a:prstGeom prst="rect">
            <a:avLst/>
          </a:prstGeom>
          <a:noFill/>
        </p:spPr>
        <p:txBody>
          <a:bodyPr wrap="square">
            <a:spAutoFit/>
          </a:bodyPr>
          <a:lstStyle/>
          <a:p>
            <a:pPr>
              <a:spcAft>
                <a:spcPts val="1200"/>
              </a:spcAft>
            </a:pPr>
            <a:r>
              <a:rPr sz="2700" i="0">
                <a:solidFill>
                  <a:srgbClr val="FCE8EA"/>
                </a:solidFill>
                <a:latin typeface="Lora"/>
              </a:rPr>
              <a:t>Received as a gift, and trusted as your guidance, your body isn't the obstacle to the sacred. It's the doorway.</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CA1A5"/>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Practice · Sacred breath</a:t>
            </a:r>
          </a:p>
        </p:txBody>
      </p:sp>
      <p:sp>
        <p:nvSpPr>
          <p:cNvPr id="3" name="Rectangle 2"/>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Hand on heart, hand on belly. Breathe into your womb space. If you contract, let it be. Just open, breath by breath. I'm here. I love you. Thank you.</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4BBC2"/>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74234F"/>
                </a:solidFill>
                <a:latin typeface="Lora"/>
              </a:rPr>
              <a:t>IN PAIRS</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Breakout · From shame to sacred</a:t>
            </a:r>
          </a:p>
        </p:txBody>
      </p:sp>
      <p:sp>
        <p:nvSpPr>
          <p:cNvPr id="4" name="Rectangle 3"/>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1D283C"/>
                </a:solidFill>
                <a:latin typeface="Lora"/>
              </a:rPr>
              <a:t>•  A pleasure I stopped letting myself feel is...</a:t>
            </a:r>
          </a:p>
          <a:p>
            <a:pPr>
              <a:spcAft>
                <a:spcPts val="1200"/>
              </a:spcAft>
            </a:pPr>
            <a:r>
              <a:rPr sz="2300" i="0">
                <a:solidFill>
                  <a:srgbClr val="1D283C"/>
                </a:solidFill>
                <a:latin typeface="Lora"/>
              </a:rPr>
              <a:t>•  One sacred pleasure I'll give myself is...</a:t>
            </a:r>
          </a:p>
          <a:p>
            <a:pPr>
              <a:spcAft>
                <a:spcPts val="1200"/>
              </a:spcAft>
            </a:pPr>
            <a:r>
              <a:rPr sz="2300" i="0">
                <a:solidFill>
                  <a:srgbClr val="1D283C"/>
                </a:solidFill>
                <a:latin typeface="Lora"/>
              </a:rPr>
              <a:t>•  The part of my body I'm ready to make peace with is...</a:t>
            </a:r>
          </a:p>
          <a:p>
            <a:pPr>
              <a:spcAft>
                <a:spcPts val="1200"/>
              </a:spcAft>
            </a:pPr>
            <a:r>
              <a:rPr sz="2300" i="0">
                <a:solidFill>
                  <a:srgbClr val="1D283C"/>
                </a:solidFill>
                <a:latin typeface="Lora"/>
              </a:rPr>
              <a:t>•  Then swap.</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C9A86D"/>
                </a:solidFill>
                <a:latin typeface="Lora"/>
              </a:rPr>
              <a:t>TAKE HOME</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This week</a:t>
            </a:r>
          </a:p>
        </p:txBody>
      </p:sp>
      <p:sp>
        <p:nvSpPr>
          <p:cNvPr id="4" name="Rectangle 3"/>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FCE8EA"/>
                </a:solidFill>
                <a:latin typeface="Lora"/>
              </a:rPr>
              <a:t>•  Candle. Hand on heart, hand on belly.</a:t>
            </a:r>
          </a:p>
          <a:p>
            <a:pPr>
              <a:spcAft>
                <a:spcPts val="1200"/>
              </a:spcAft>
            </a:pPr>
            <a:r>
              <a:rPr sz="2300" i="0">
                <a:solidFill>
                  <a:srgbClr val="FCE8EA"/>
                </a:solidFill>
                <a:latin typeface="Lora"/>
              </a:rPr>
              <a:t>•  I'm here. I love you. Thank you.</a:t>
            </a:r>
          </a:p>
          <a:p>
            <a:pPr>
              <a:spcAft>
                <a:spcPts val="1200"/>
              </a:spcAft>
            </a:pPr>
            <a:r>
              <a:rPr sz="2300" i="0">
                <a:solidFill>
                  <a:srgbClr val="FCE8EA"/>
                </a:solidFill>
                <a:latin typeface="Lora"/>
              </a:rPr>
              <a:t>•  One small thing that treats your body as sacred.</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C9A86D"/>
                </a:solidFill>
                <a:latin typeface="Lora"/>
              </a:rPr>
              <a:t>RADIANT WOMEN'S CIRCLE  ·  SESSION 2</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5400">
                <a:solidFill>
                  <a:srgbClr val="FCE8EA"/>
                </a:solidFill>
                <a:latin typeface="Belleza"/>
              </a:rPr>
              <a:t>Spirituality &amp; Sexuality</a:t>
            </a:r>
          </a:p>
        </p:txBody>
      </p:sp>
      <p:sp>
        <p:nvSpPr>
          <p:cNvPr id="4" name="Rectangle 3"/>
          <p:cNvSpPr/>
          <p:nvPr/>
        </p:nvSpPr>
        <p:spPr>
          <a:xfrm>
            <a:off x="822960" y="3977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2926080"/>
          </a:xfrm>
          <a:prstGeom prst="rect">
            <a:avLst/>
          </a:prstGeom>
          <a:noFill/>
        </p:spPr>
        <p:txBody>
          <a:bodyPr wrap="square">
            <a:spAutoFit/>
          </a:bodyPr>
          <a:lstStyle/>
          <a:p>
            <a:pPr>
              <a:spcAft>
                <a:spcPts val="1200"/>
              </a:spcAft>
            </a:pPr>
            <a:r>
              <a:rPr sz="2700" i="0">
                <a:solidFill>
                  <a:srgbClr val="FCE8EA"/>
                </a:solidFill>
                <a:latin typeface="Lora"/>
              </a:rPr>
              <a:t>The Sacred Union: deepening connection during lovemaking.</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4234F"/>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5400">
                <a:solidFill>
                  <a:srgbClr val="FCE8EA"/>
                </a:solidFill>
                <a:latin typeface="Belleza"/>
              </a:rPr>
              <a:t>Slow is sacred</a:t>
            </a:r>
          </a:p>
        </p:txBody>
      </p:sp>
      <p:sp>
        <p:nvSpPr>
          <p:cNvPr id="3" name="Rectangle 2"/>
          <p:cNvSpPr/>
          <p:nvPr/>
        </p:nvSpPr>
        <p:spPr>
          <a:xfrm>
            <a:off x="822960" y="3977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297680"/>
            <a:ext cx="10515600" cy="2926080"/>
          </a:xfrm>
          <a:prstGeom prst="rect">
            <a:avLst/>
          </a:prstGeom>
          <a:noFill/>
        </p:spPr>
        <p:txBody>
          <a:bodyPr wrap="square">
            <a:spAutoFit/>
          </a:bodyPr>
          <a:lstStyle/>
          <a:p>
            <a:pPr>
              <a:spcAft>
                <a:spcPts val="1200"/>
              </a:spcAft>
            </a:pPr>
            <a:r>
              <a:rPr sz="2700" i="0">
                <a:solidFill>
                  <a:srgbClr val="FCE8EA"/>
                </a:solidFill>
                <a:latin typeface="Lora"/>
              </a:rPr>
              <a:t>You can't build deep connection at full speed. Make love the way you'd meditate: fully here, in no hurry.</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E8EA"/>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Presence, not performance</a:t>
            </a:r>
          </a:p>
        </p:txBody>
      </p:sp>
      <p:sp>
        <p:nvSpPr>
          <p:cNvPr id="3" name="Rectangle 2"/>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Sacred union isn't about arriving anywhere. Slowness makes space for feeling, and feeling makes it sacred.</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4BBC2"/>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74234F"/>
                </a:solidFill>
                <a:latin typeface="Lora"/>
              </a:rPr>
              <a:t>TAKE A MOMENT</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Reflect</a:t>
            </a:r>
          </a:p>
        </p:txBody>
      </p:sp>
      <p:sp>
        <p:nvSpPr>
          <p:cNvPr id="4" name="Rectangle 3"/>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1D283C"/>
                </a:solidFill>
                <a:latin typeface="Lora"/>
              </a:rPr>
              <a:t>•  When do I feel truly safe and connected?</a:t>
            </a:r>
          </a:p>
          <a:p>
            <a:pPr>
              <a:spcAft>
                <a:spcPts val="1200"/>
              </a:spcAft>
            </a:pPr>
            <a:r>
              <a:rPr sz="2300" i="0">
                <a:solidFill>
                  <a:srgbClr val="1D283C"/>
                </a:solidFill>
                <a:latin typeface="Lora"/>
              </a:rPr>
              <a:t>•  What do I long for that I've never said out loud?</a:t>
            </a:r>
          </a:p>
          <a:p>
            <a:pPr>
              <a:spcAft>
                <a:spcPts val="1200"/>
              </a:spcAft>
            </a:pPr>
            <a:r>
              <a:rPr sz="2300" i="0">
                <a:solidFill>
                  <a:srgbClr val="1D283C"/>
                </a:solidFill>
                <a:latin typeface="Lora"/>
              </a:rPr>
              <a:t>•  What helps me stay present instead of performing?</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7CA1A5"/>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Practice · Eye gaze &amp; breath</a:t>
            </a:r>
          </a:p>
        </p:txBody>
      </p:sp>
      <p:sp>
        <p:nvSpPr>
          <p:cNvPr id="3" name="Rectangle 2"/>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Soften your gaze. Breathe together. Simply witness and be witnessed. Let yourself be seen.</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24652"/>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C9A86D"/>
                </a:solidFill>
                <a:latin typeface="Lora"/>
              </a:rPr>
              <a:t>IN PAIRS</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Breakout · Safe and connected</a:t>
            </a:r>
          </a:p>
        </p:txBody>
      </p:sp>
      <p:sp>
        <p:nvSpPr>
          <p:cNvPr id="4" name="Rectangle 3"/>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FCE8EA"/>
                </a:solidFill>
                <a:latin typeface="Lora"/>
              </a:rPr>
              <a:t>•  I feel most safe and connected when...</a:t>
            </a:r>
          </a:p>
          <a:p>
            <a:pPr>
              <a:spcAft>
                <a:spcPts val="1200"/>
              </a:spcAft>
            </a:pPr>
            <a:r>
              <a:rPr sz="2300" i="0">
                <a:solidFill>
                  <a:srgbClr val="FCE8EA"/>
                </a:solidFill>
                <a:latin typeface="Lora"/>
              </a:rPr>
              <a:t>•  What pulls me out of presence is...</a:t>
            </a:r>
          </a:p>
          <a:p>
            <a:pPr>
              <a:spcAft>
                <a:spcPts val="1200"/>
              </a:spcAft>
            </a:pPr>
            <a:r>
              <a:rPr sz="2300" i="0">
                <a:solidFill>
                  <a:srgbClr val="FCE8EA"/>
                </a:solidFill>
                <a:latin typeface="Lora"/>
              </a:rPr>
              <a:t>•  What helps me come back is...</a:t>
            </a:r>
          </a:p>
          <a:p>
            <a:pPr>
              <a:spcAft>
                <a:spcPts val="1200"/>
              </a:spcAft>
            </a:pPr>
            <a:r>
              <a:rPr sz="2300" i="0">
                <a:solidFill>
                  <a:srgbClr val="FCE8EA"/>
                </a:solidFill>
                <a:latin typeface="Lora"/>
              </a:rPr>
              <a:t>•  Then swap.</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Create sacred space</a:t>
            </a:r>
          </a:p>
        </p:txBody>
      </p:sp>
      <p:sp>
        <p:nvSpPr>
          <p:cNvPr id="3" name="Rectangle 2"/>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FCE8EA"/>
                </a:solidFill>
                <a:latin typeface="Lora"/>
              </a:rPr>
              <a:t>Candles. Soft music. Beautiful fabrics. A door that closes. You're telling your body: this is sacred time.</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C9A86D"/>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The dance of love</a:t>
            </a:r>
          </a:p>
        </p:txBody>
      </p:sp>
      <p:sp>
        <p:nvSpPr>
          <p:cNvPr id="3" name="Rectangle 2"/>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54680"/>
            <a:ext cx="10515600" cy="2926080"/>
          </a:xfrm>
          <a:prstGeom prst="rect">
            <a:avLst/>
          </a:prstGeom>
          <a:noFill/>
        </p:spPr>
        <p:txBody>
          <a:bodyPr wrap="square">
            <a:spAutoFit/>
          </a:bodyPr>
          <a:lstStyle/>
          <a:p>
            <a:pPr>
              <a:spcAft>
                <a:spcPts val="1200"/>
              </a:spcAft>
            </a:pPr>
            <a:r>
              <a:rPr sz="2700" i="0">
                <a:solidFill>
                  <a:srgbClr val="1D283C"/>
                </a:solidFill>
                <a:latin typeface="Lora"/>
              </a:rPr>
              <a:t>Breathe together. Eye gaze. Then touch, slowly, with no destination. Take turns giving and receiving.</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4BBC2"/>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74234F"/>
                </a:solidFill>
                <a:latin typeface="Lora"/>
              </a:rPr>
              <a:t>IN PAIRS</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1D283C"/>
                </a:solidFill>
                <a:latin typeface="Belleza"/>
              </a:rPr>
              <a:t>Breakout · Desire &amp; receiving</a:t>
            </a:r>
          </a:p>
        </p:txBody>
      </p:sp>
      <p:sp>
        <p:nvSpPr>
          <p:cNvPr id="4" name="Rectangle 3"/>
          <p:cNvSpPr/>
          <p:nvPr/>
        </p:nvSpPr>
        <p:spPr>
          <a:xfrm>
            <a:off x="822960" y="2834640"/>
            <a:ext cx="1463040" cy="38100"/>
          </a:xfrm>
          <a:prstGeom prst="rect">
            <a:avLst/>
          </a:prstGeom>
          <a:solidFill>
            <a:srgbClr val="742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1D283C"/>
                </a:solidFill>
                <a:latin typeface="Lora"/>
              </a:rPr>
              <a:t>•  Speak a desire, cleanly and warmly: I long for...</a:t>
            </a:r>
          </a:p>
          <a:p>
            <a:pPr>
              <a:spcAft>
                <a:spcPts val="1200"/>
              </a:spcAft>
            </a:pPr>
            <a:r>
              <a:rPr sz="2300" i="0">
                <a:solidFill>
                  <a:srgbClr val="1D283C"/>
                </a:solidFill>
                <a:latin typeface="Lora"/>
              </a:rPr>
              <a:t>•  Receive an appreciation. Just say thank you. Let it land.</a:t>
            </a:r>
          </a:p>
          <a:p>
            <a:pPr>
              <a:spcAft>
                <a:spcPts val="1200"/>
              </a:spcAft>
            </a:pPr>
            <a:r>
              <a:rPr sz="2300" i="0">
                <a:solidFill>
                  <a:srgbClr val="1D283C"/>
                </a:solidFill>
                <a:latin typeface="Lora"/>
              </a:rPr>
              <a:t>•  Notice the urge to deflect.</a:t>
            </a:r>
          </a:p>
          <a:p>
            <a:pPr>
              <a:spcAft>
                <a:spcPts val="1200"/>
              </a:spcAft>
            </a:pPr>
            <a:r>
              <a:rPr sz="2300" i="0">
                <a:solidFill>
                  <a:srgbClr val="1D283C"/>
                </a:solidFill>
                <a:latin typeface="Lora"/>
              </a:rPr>
              <a:t>•  Then swap.</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74234F"/>
                </a:solidFill>
                <a:latin typeface="Lora"/>
              </a:rPr>
              <a:t>SEXUALEMPOWERMENTFORWOMEN.COM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4234F"/>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none">
            <a:spAutoFit/>
          </a:bodyPr>
          <a:lstStyle/>
          <a:p>
            <a:r>
              <a:rPr sz="1500" b="1">
                <a:solidFill>
                  <a:srgbClr val="C9A86D"/>
                </a:solidFill>
                <a:latin typeface="Lora"/>
              </a:rPr>
              <a:t>TAKE HOME</a:t>
            </a:r>
          </a:p>
        </p:txBody>
      </p:sp>
      <p:sp>
        <p:nvSpPr>
          <p:cNvPr id="3" name="TextBox 2"/>
          <p:cNvSpPr txBox="1"/>
          <p:nvPr/>
        </p:nvSpPr>
        <p:spPr>
          <a:xfrm>
            <a:off x="822960" y="1005840"/>
            <a:ext cx="10515600" cy="2926080"/>
          </a:xfrm>
          <a:prstGeom prst="rect">
            <a:avLst/>
          </a:prstGeom>
          <a:noFill/>
        </p:spPr>
        <p:txBody>
          <a:bodyPr wrap="square" anchor="t">
            <a:spAutoFit/>
          </a:bodyPr>
          <a:lstStyle/>
          <a:p>
            <a:r>
              <a:rPr sz="4000">
                <a:solidFill>
                  <a:srgbClr val="FCE8EA"/>
                </a:solidFill>
                <a:latin typeface="Belleza"/>
              </a:rPr>
              <a:t>This week</a:t>
            </a:r>
          </a:p>
        </p:txBody>
      </p:sp>
      <p:sp>
        <p:nvSpPr>
          <p:cNvPr id="4" name="Rectangle 3"/>
          <p:cNvSpPr/>
          <p:nvPr/>
        </p:nvSpPr>
        <p:spPr>
          <a:xfrm>
            <a:off x="822960" y="2834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154680"/>
            <a:ext cx="10515600" cy="2926080"/>
          </a:xfrm>
          <a:prstGeom prst="rect">
            <a:avLst/>
          </a:prstGeom>
          <a:noFill/>
        </p:spPr>
        <p:txBody>
          <a:bodyPr wrap="square">
            <a:spAutoFit/>
          </a:bodyPr>
          <a:lstStyle/>
          <a:p>
            <a:pPr>
              <a:spcAft>
                <a:spcPts val="1200"/>
              </a:spcAft>
            </a:pPr>
            <a:r>
              <a:rPr sz="2300" i="0">
                <a:solidFill>
                  <a:srgbClr val="FCE8EA"/>
                </a:solidFill>
                <a:latin typeface="Lora"/>
              </a:rPr>
              <a:t>•  One pocket of sacred time. Light a candle.</a:t>
            </a:r>
          </a:p>
          <a:p>
            <a:pPr>
              <a:spcAft>
                <a:spcPts val="1200"/>
              </a:spcAft>
            </a:pPr>
            <a:r>
              <a:rPr sz="2300" i="0">
                <a:solidFill>
                  <a:srgbClr val="FCE8EA"/>
                </a:solidFill>
                <a:latin typeface="Lora"/>
              </a:rPr>
              <a:t>•  Breathe together. Eye gaze for three minutes.</a:t>
            </a:r>
          </a:p>
          <a:p>
            <a:pPr>
              <a:spcAft>
                <a:spcPts val="1200"/>
              </a:spcAft>
            </a:pPr>
            <a:r>
              <a:rPr sz="2300" i="0">
                <a:solidFill>
                  <a:srgbClr val="FCE8EA"/>
                </a:solidFill>
                <a:latin typeface="Lora"/>
              </a:rPr>
              <a:t>•  Slow, reverent touch, with no goal. Just presence.</a:t>
            </a:r>
          </a:p>
        </p:txBody>
      </p:sp>
      <p:sp>
        <p:nvSpPr>
          <p:cNvPr id="6" name="TextBox 5"/>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D283C"/>
        </a:solidFill>
        <a:effectLst/>
      </p:bgPr>
    </p:bg>
    <p:spTree>
      <p:nvGrpSpPr>
        <p:cNvPr id="1" name=""/>
        <p:cNvGrpSpPr/>
        <p:nvPr/>
      </p:nvGrpSpPr>
      <p:grpSpPr/>
      <p:sp>
        <p:nvSpPr>
          <p:cNvPr id="2" name="TextBox 1"/>
          <p:cNvSpPr txBox="1"/>
          <p:nvPr/>
        </p:nvSpPr>
        <p:spPr>
          <a:xfrm>
            <a:off x="822960" y="1005840"/>
            <a:ext cx="10515600" cy="2926080"/>
          </a:xfrm>
          <a:prstGeom prst="rect">
            <a:avLst/>
          </a:prstGeom>
          <a:noFill/>
        </p:spPr>
        <p:txBody>
          <a:bodyPr wrap="square" anchor="t">
            <a:spAutoFit/>
          </a:bodyPr>
          <a:lstStyle/>
          <a:p>
            <a:r>
              <a:rPr sz="5400">
                <a:solidFill>
                  <a:srgbClr val="FCE8EA"/>
                </a:solidFill>
                <a:latin typeface="Belleza"/>
              </a:rPr>
              <a:t>You are sacred.</a:t>
            </a:r>
          </a:p>
        </p:txBody>
      </p:sp>
      <p:sp>
        <p:nvSpPr>
          <p:cNvPr id="3" name="Rectangle 2"/>
          <p:cNvSpPr/>
          <p:nvPr/>
        </p:nvSpPr>
        <p:spPr>
          <a:xfrm>
            <a:off x="822960" y="3977640"/>
            <a:ext cx="1463040" cy="38100"/>
          </a:xfrm>
          <a:prstGeom prst="rect">
            <a:avLst/>
          </a:prstGeom>
          <a:solidFill>
            <a:srgbClr val="C9A8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297680"/>
            <a:ext cx="10515600" cy="2926080"/>
          </a:xfrm>
          <a:prstGeom prst="rect">
            <a:avLst/>
          </a:prstGeom>
          <a:noFill/>
        </p:spPr>
        <p:txBody>
          <a:bodyPr wrap="square">
            <a:spAutoFit/>
          </a:bodyPr>
          <a:lstStyle/>
          <a:p>
            <a:pPr>
              <a:spcAft>
                <a:spcPts val="1200"/>
              </a:spcAft>
            </a:pPr>
            <a:r>
              <a:rPr sz="2700" i="0">
                <a:solidFill>
                  <a:srgbClr val="FCE8EA"/>
                </a:solidFill>
                <a:latin typeface="Lora"/>
              </a:rPr>
              <a:t>Your body. Your pleasure. Your desire. All holy.</a:t>
            </a:r>
          </a:p>
        </p:txBody>
      </p:sp>
      <p:sp>
        <p:nvSpPr>
          <p:cNvPr id="5" name="TextBox 4"/>
          <p:cNvSpPr txBox="1"/>
          <p:nvPr/>
        </p:nvSpPr>
        <p:spPr>
          <a:xfrm>
            <a:off x="822960" y="6263640"/>
            <a:ext cx="10515600" cy="365760"/>
          </a:xfrm>
          <a:prstGeom prst="rect">
            <a:avLst/>
          </a:prstGeom>
          <a:noFill/>
        </p:spPr>
        <p:txBody>
          <a:bodyPr wrap="none">
            <a:spAutoFit/>
          </a:bodyPr>
          <a:lstStyle/>
          <a:p>
            <a:r>
              <a:rPr sz="1100">
                <a:solidFill>
                  <a:srgbClr val="C9A86D"/>
                </a:solidFill>
                <a:latin typeface="Lora"/>
              </a:rPr>
              <a:t>SEXUALEMPOWERMENTFORWOMEN.COM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